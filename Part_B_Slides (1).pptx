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Total Revenue ($)</c:v>
                </c:pt>
              </c:strCache>
            </c:strRef>
          </c:tx>
          <c:spPr>
            <a:solidFill>
              <a:srgbClr val="2C5F2D"/>
            </a:solidFill>
            <a:ln w="31750" cap="flat">
              <a:solidFill>
                <a:srgbClr val="2C5F2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4"/>
            <c:spPr>
              <a:solidFill>
                <a:srgbClr val="2C5F2D"/>
              </a:solidFill>
              <a:ln w="9525" cap="flat">
                <a:solidFill>
                  <a:srgbClr val="2C5F2D"/>
                </a:solidFill>
                <a:prstDash val="solid"/>
                <a:round/>
              </a:ln>
              <a:effectLst/>
            </c:spPr>
          </c:marker>
          <c:cat>
            <c:multiLvlStrRef>
              <c:f>Sheet1!$A$2:$A$22</c:f>
              <c:multiLvlStrCache>
                <c:ptCount val="21"/>
                <c:lvl>
                  <c:pt idx="0">
                    <c:v>Jan23</c:v>
                  </c:pt>
                  <c:pt idx="1">
                    <c:v>Feb23</c:v>
                  </c:pt>
                  <c:pt idx="2">
                    <c:v>Mar23</c:v>
                  </c:pt>
                  <c:pt idx="3">
                    <c:v>Apr23</c:v>
                  </c:pt>
                  <c:pt idx="4">
                    <c:v>May23</c:v>
                  </c:pt>
                  <c:pt idx="5">
                    <c:v>Jun23</c:v>
                  </c:pt>
                  <c:pt idx="6">
                    <c:v>Jul23</c:v>
                  </c:pt>
                  <c:pt idx="7">
                    <c:v>Aug23</c:v>
                  </c:pt>
                  <c:pt idx="8">
                    <c:v>Sep23</c:v>
                  </c:pt>
                  <c:pt idx="9">
                    <c:v>Oct23</c:v>
                  </c:pt>
                  <c:pt idx="10">
                    <c:v>Nov23</c:v>
                  </c:pt>
                  <c:pt idx="11">
                    <c:v>Dec23</c:v>
                  </c:pt>
                  <c:pt idx="12">
                    <c:v>Jan24</c:v>
                  </c:pt>
                  <c:pt idx="13">
                    <c:v>Feb24</c:v>
                  </c:pt>
                  <c:pt idx="14">
                    <c:v>Mar24</c:v>
                  </c:pt>
                  <c:pt idx="15">
                    <c:v>Apr24</c:v>
                  </c:pt>
                  <c:pt idx="16">
                    <c:v>May24</c:v>
                  </c:pt>
                  <c:pt idx="17">
                    <c:v>Jun24</c:v>
                  </c:pt>
                  <c:pt idx="18">
                    <c:v>Jul24</c:v>
                  </c:pt>
                  <c:pt idx="19">
                    <c:v>Aug24</c:v>
                  </c:pt>
                  <c:pt idx="20">
                    <c:v>Sep24</c:v>
                  </c:pt>
                </c:lvl>
              </c:multiLvlStrCache>
            </c:multiLvlStrRef>
          </c:cat>
          <c:val>
            <c:numRef>
              <c:f>Sheet1!$B$2:$B$22</c:f>
              <c:numCache>
                <c:formatCode>General</c:formatCode>
                <c:ptCount val="21"/>
                <c:pt idx="0">
                  <c:v>736043</c:v>
                </c:pt>
                <c:pt idx="1">
                  <c:v>690654</c:v>
                </c:pt>
                <c:pt idx="2">
                  <c:v>742226</c:v>
                </c:pt>
                <c:pt idx="3">
                  <c:v>756172</c:v>
                </c:pt>
                <c:pt idx="4">
                  <c:v>793466</c:v>
                </c:pt>
                <c:pt idx="5">
                  <c:v>808457</c:v>
                </c:pt>
                <c:pt idx="6">
                  <c:v>817048</c:v>
                </c:pt>
                <c:pt idx="7">
                  <c:v>830258</c:v>
                </c:pt>
                <c:pt idx="8">
                  <c:v>843827</c:v>
                </c:pt>
                <c:pt idx="9">
                  <c:v>873114</c:v>
                </c:pt>
                <c:pt idx="10">
                  <c:v>969160</c:v>
                </c:pt>
                <c:pt idx="11">
                  <c:v>1006027</c:v>
                </c:pt>
                <c:pt idx="12">
                  <c:v>903457</c:v>
                </c:pt>
                <c:pt idx="13">
                  <c:v>890557</c:v>
                </c:pt>
                <c:pt idx="14">
                  <c:v>934496</c:v>
                </c:pt>
                <c:pt idx="15">
                  <c:v>989868</c:v>
                </c:pt>
                <c:pt idx="16">
                  <c:v>975895</c:v>
                </c:pt>
                <c:pt idx="17">
                  <c:v>979480</c:v>
                </c:pt>
                <c:pt idx="18">
                  <c:v>1047464</c:v>
                </c:pt>
                <c:pt idx="19">
                  <c:v>1047267</c:v>
                </c:pt>
                <c:pt idx="20">
                  <c:v>1070292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6B7280"/>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5E7EB"/>
              </a:solidFill>
              <a:prstDash val="solid"/>
              <a:round/>
            </a:ln>
          </c:spPr>
        </c:majorGridlines>
        <c:title>
          <c:tx>
            <c:rich>
              <a:bodyPr/>
              <a:lstStyle/>
              <a:p>
                <a:pPr>
                  <a:defRPr sz="1100" b="0" i="0" u="none" strike="noStrike">
                    <a:solidFill>
                      <a:srgbClr val="6B7280"/>
                    </a:solidFill>
                    <a:latin typeface="Arial"/>
                  </a:defRPr>
                </a:pPr>
                <a:r>
                  <a:rPr sz="1100" b="0" i="0" u="none" strike="noStrike">
                    <a:solidFill>
                      <a:srgbClr val="6B7280"/>
                    </a:solidFill>
                    <a:latin typeface="Arial"/>
                  </a:rPr>
                  <a:t>Revenue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YTD YoY growth</c:v>
                </c:pt>
              </c:strCache>
            </c:strRef>
          </c:tx>
          <c:spPr>
            <a:solidFill>
              <a:srgbClr val="7A9A4E"/>
            </a:solidFill>
            <a:effectLst/>
          </c:spPr>
          <c:invertIfNegative val="0"/>
          <c:dLbls>
            <c:numFmt formatCode="0.0&quot;%&quot;" sourceLinked="0"/>
            <c:txPr>
              <a:bodyPr/>
              <a:lstStyle/>
              <a:p>
                <a:pPr>
                  <a:defRPr b="0" i="0" strike="noStrike" sz="1100" u="none">
                    <a:solidFill>
                      <a:srgbClr val="333333"/>
                    </a:solidFill>
                    <a:latin typeface="Arial"/>
                  </a:defRPr>
                </a:pPr>
              </a:p>
            </c:txPr>
            <c:showLegendKey val="0"/>
            <c:showVal val="1"/>
            <c:showCatName val="0"/>
            <c:showSerName val="0"/>
            <c:showPercent val="0"/>
            <c:showBubbleSize val="0"/>
            <c:showLeaderLines val="0"/>
          </c:dLbls>
          <c:cat>
            <c:multiLvlStrRef>
              <c:f>Sheet1!$A$2:$A$7</c:f>
              <c:multiLvlStrCache>
                <c:ptCount val="6"/>
                <c:lvl>
                  <c:pt idx="0">
                    <c:v>Mexico</c:v>
                  </c:pt>
                  <c:pt idx="1">
                    <c:v>Nigeria</c:v>
                  </c:pt>
                  <c:pt idx="2">
                    <c:v>Philippines</c:v>
                  </c:pt>
                  <c:pt idx="3">
                    <c:v>Brazil</c:v>
                  </c:pt>
                  <c:pt idx="4">
                    <c:v>Indonesia</c:v>
                  </c:pt>
                  <c:pt idx="5">
                    <c:v>India</c:v>
                  </c:pt>
                </c:lvl>
              </c:multiLvlStrCache>
            </c:multiLvlStrRef>
          </c:cat>
          <c:val>
            <c:numRef>
              <c:f>Sheet1!$B$2:$B$7</c:f>
              <c:numCache>
                <c:formatCode>General</c:formatCode>
                <c:ptCount val="6"/>
                <c:pt idx="0">
                  <c:v>18.5</c:v>
                </c:pt>
                <c:pt idx="1">
                  <c:v>19.8</c:v>
                </c:pt>
                <c:pt idx="2">
                  <c:v>23.7</c:v>
                </c:pt>
                <c:pt idx="3">
                  <c:v>24.4</c:v>
                </c:pt>
                <c:pt idx="4">
                  <c:v>31.8</c:v>
                </c:pt>
                <c:pt idx="5">
                  <c:v>34.9</c:v>
                </c:pt>
              </c:numCache>
            </c:numRef>
          </c:val>
        </c:ser>
        <c:dLbls>
          <c:numFmt formatCode="0.0&quot;%&quot;" sourceLinked="0"/>
          <c:txPr>
            <a:bodyPr/>
            <a:lstStyle/>
            <a:p>
              <a:pPr>
                <a:defRPr b="0" i="0" strike="noStrike" sz="1100" u="none">
                  <a:solidFill>
                    <a:srgbClr val="3333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5E7EB"/>
              </a:solidFill>
              <a:prstDash val="solid"/>
              <a:round/>
            </a:ln>
          </c:spPr>
        </c:majorGridlines>
        <c:title>
          <c:tx>
            <c:rich>
              <a:bodyPr/>
              <a:lstStyle/>
              <a:p>
                <a:pPr>
                  <a:defRPr sz="1100" b="0" i="0" u="none" strike="noStrike">
                    <a:solidFill>
                      <a:srgbClr val="6B7280"/>
                    </a:solidFill>
                    <a:latin typeface="Arial"/>
                  </a:defRPr>
                </a:pPr>
                <a:r>
                  <a:rPr sz="1100" b="0" i="0" u="none" strike="noStrike">
                    <a:solidFill>
                      <a:srgbClr val="6B7280"/>
                    </a:solidFill>
                    <a:latin typeface="Arial"/>
                  </a:rPr>
                  <a:t>% YTD growth</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YTD 2023</c:v>
                </c:pt>
              </c:strCache>
            </c:strRef>
          </c:tx>
          <c:spPr>
            <a:solidFill>
              <a:srgbClr val="A9C98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Brazil</c:v>
                  </c:pt>
                  <c:pt idx="1">
                    <c:v>India</c:v>
                  </c:pt>
                  <c:pt idx="2">
                    <c:v>Indonesia</c:v>
                  </c:pt>
                  <c:pt idx="3">
                    <c:v>Mexico</c:v>
                  </c:pt>
                  <c:pt idx="4">
                    <c:v>Nigeria</c:v>
                  </c:pt>
                  <c:pt idx="5">
                    <c:v>Philippines</c:v>
                  </c:pt>
                </c:lvl>
              </c:multiLvlStrCache>
            </c:multiLvlStrRef>
          </c:cat>
          <c:val>
            <c:numRef>
              <c:f>Sheet1!$B$2:$B$7</c:f>
              <c:numCache>
                <c:formatCode>General</c:formatCode>
                <c:ptCount val="6"/>
                <c:pt idx="0">
                  <c:v>1729555</c:v>
                </c:pt>
                <c:pt idx="1">
                  <c:v>1113173</c:v>
                </c:pt>
                <c:pt idx="2">
                  <c:v>1369960</c:v>
                </c:pt>
                <c:pt idx="3">
                  <c:v>1249337</c:v>
                </c:pt>
                <c:pt idx="4">
                  <c:v>681970</c:v>
                </c:pt>
                <c:pt idx="5">
                  <c:v>874155</c:v>
                </c:pt>
              </c:numCache>
            </c:numRef>
          </c:val>
        </c:ser>
        <c:ser>
          <c:idx val="1"/>
          <c:order val="1"/>
          <c:tx>
            <c:strRef>
              <c:f>Sheet1!$C$1</c:f>
              <c:strCache>
                <c:ptCount val="1"/>
                <c:pt idx="0">
                  <c:v>YTD 2024</c:v>
                </c:pt>
              </c:strCache>
            </c:strRef>
          </c:tx>
          <c:spPr>
            <a:solidFill>
              <a:srgbClr val="2C5F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Brazil</c:v>
                  </c:pt>
                  <c:pt idx="1">
                    <c:v>India</c:v>
                  </c:pt>
                  <c:pt idx="2">
                    <c:v>Indonesia</c:v>
                  </c:pt>
                  <c:pt idx="3">
                    <c:v>Mexico</c:v>
                  </c:pt>
                  <c:pt idx="4">
                    <c:v>Nigeria</c:v>
                  </c:pt>
                  <c:pt idx="5">
                    <c:v>Philippines</c:v>
                  </c:pt>
                </c:lvl>
              </c:multiLvlStrCache>
            </c:multiLvlStrRef>
          </c:cat>
          <c:val>
            <c:numRef>
              <c:f>Sheet1!$C$2:$C$7</c:f>
              <c:numCache>
                <c:formatCode>General</c:formatCode>
                <c:ptCount val="6"/>
                <c:pt idx="0">
                  <c:v>2151777</c:v>
                </c:pt>
                <c:pt idx="1">
                  <c:v>1502091</c:v>
                </c:pt>
                <c:pt idx="2">
                  <c:v>1805641</c:v>
                </c:pt>
                <c:pt idx="3">
                  <c:v>1480983</c:v>
                </c:pt>
                <c:pt idx="4">
                  <c:v>816683</c:v>
                </c:pt>
                <c:pt idx="5">
                  <c:v>1081602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5E7EB"/>
              </a:solidFill>
              <a:prstDash val="solid"/>
              <a:round/>
            </a:ln>
          </c:spPr>
        </c:majorGridlines>
        <c:title>
          <c:tx>
            <c:rich>
              <a:bodyPr/>
              <a:lstStyle/>
              <a:p>
                <a:pPr>
                  <a:defRPr sz="1100" b="0" i="0" u="none" strike="noStrike">
                    <a:solidFill>
                      <a:srgbClr val="6B7280"/>
                    </a:solidFill>
                    <a:latin typeface="Arial"/>
                  </a:defRPr>
                </a:pPr>
                <a:r>
                  <a:rPr sz="1100" b="0" i="0" u="none" strike="noStrike">
                    <a:solidFill>
                      <a:srgbClr val="6B7280"/>
                    </a:solidFill>
                    <a:latin typeface="Arial"/>
                  </a:rPr>
                  <a:t>Revenue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C5F2D"/>
                </a:solidFill>
                <a:latin typeface="Calibri"/>
              </a:defRPr>
            </a:pPr>
            <a:r>
              <a:rPr sz="1300" b="0" i="0" u="none" strike="noStrike">
                <a:solidFill>
                  <a:srgbClr val="2C5F2D"/>
                </a:solidFill>
                <a:latin typeface="Calibri"/>
              </a:rPr>
              <a:t>Nigeria: the June 2024 dip</a:t>
            </a:r>
          </a:p>
        </c:rich>
      </c:tx>
      <c:layout/>
      <c:overlay val="0"/>
    </c:title>
    <c:autoTitleDeleted val="0"/>
    <c:plotArea>
      <c:layout/>
      <c:lineChart>
        <c:varyColors val="0"/>
        <c:ser>
          <c:idx val="0"/>
          <c:order val="0"/>
          <c:tx>
            <c:strRef>
              <c:f>Sheet1!$B$1</c:f>
              <c:strCache>
                <c:ptCount val="1"/>
                <c:pt idx="0">
                  <c:v>Nigeria monthly revenue</c:v>
                </c:pt>
              </c:strCache>
            </c:strRef>
          </c:tx>
          <c:spPr>
            <a:solidFill>
              <a:srgbClr val="E8635A"/>
            </a:solidFill>
            <a:ln w="31750" cap="flat">
              <a:solidFill>
                <a:srgbClr val="E8635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8635A"/>
              </a:solidFill>
              <a:ln w="9525" cap="flat">
                <a:solidFill>
                  <a:srgbClr val="E8635A"/>
                </a:solidFill>
                <a:prstDash val="solid"/>
                <a:round/>
              </a:ln>
              <a:effectLst/>
            </c:spPr>
          </c:marker>
          <c:cat>
            <c:multiLvlStrRef>
              <c:f>Sheet1!$A$2:$A$7</c:f>
              <c:multiLvlStrCache>
                <c:ptCount val="6"/>
                <c:lvl>
                  <c:pt idx="0">
                    <c:v>Mar24</c:v>
                  </c:pt>
                  <c:pt idx="1">
                    <c:v>Apr24</c:v>
                  </c:pt>
                  <c:pt idx="2">
                    <c:v>May24</c:v>
                  </c:pt>
                  <c:pt idx="3">
                    <c:v>Jun24</c:v>
                  </c:pt>
                  <c:pt idx="4">
                    <c:v>Jul24</c:v>
                  </c:pt>
                  <c:pt idx="5">
                    <c:v>Aug24</c:v>
                  </c:pt>
                </c:lvl>
              </c:multiLvlStrCache>
            </c:multiLvlStrRef>
          </c:cat>
          <c:val>
            <c:numRef>
              <c:f>Sheet1!$B$2:$B$7</c:f>
              <c:numCache>
                <c:formatCode>General</c:formatCode>
                <c:ptCount val="6"/>
                <c:pt idx="0">
                  <c:v>88447</c:v>
                </c:pt>
                <c:pt idx="1">
                  <c:v>92550</c:v>
                </c:pt>
                <c:pt idx="2">
                  <c:v>91217</c:v>
                </c:pt>
                <c:pt idx="3">
                  <c:v>67862</c:v>
                </c:pt>
                <c:pt idx="4">
                  <c:v>99249</c:v>
                </c:pt>
                <c:pt idx="5">
                  <c:v>103764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Oct-2024</c:v>
                </c:pt>
              </c:strCache>
            </c:strRef>
          </c:tx>
          <c:spPr>
            <a:solidFill>
              <a:srgbClr val="A9C98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Brazil</c:v>
                  </c:pt>
                  <c:pt idx="1">
                    <c:v>India</c:v>
                  </c:pt>
                  <c:pt idx="2">
                    <c:v>Indonesia</c:v>
                  </c:pt>
                  <c:pt idx="3">
                    <c:v>Mexico</c:v>
                  </c:pt>
                  <c:pt idx="4">
                    <c:v>Nigeria</c:v>
                  </c:pt>
                  <c:pt idx="5">
                    <c:v>Philippines</c:v>
                  </c:pt>
                </c:lvl>
              </c:multiLvlStrCache>
            </c:multiLvlStrRef>
          </c:cat>
          <c:val>
            <c:numRef>
              <c:f>Sheet1!$B$2:$B$7</c:f>
              <c:numCache>
                <c:formatCode>General</c:formatCode>
                <c:ptCount val="6"/>
                <c:pt idx="0">
                  <c:v>269553</c:v>
                </c:pt>
                <c:pt idx="1">
                  <c:v>198642</c:v>
                </c:pt>
                <c:pt idx="2">
                  <c:v>231716</c:v>
                </c:pt>
                <c:pt idx="3">
                  <c:v>179509</c:v>
                </c:pt>
                <c:pt idx="4">
                  <c:v>105653</c:v>
                </c:pt>
                <c:pt idx="5">
                  <c:v>125398</c:v>
                </c:pt>
              </c:numCache>
            </c:numRef>
          </c:val>
        </c:ser>
        <c:ser>
          <c:idx val="1"/>
          <c:order val="1"/>
          <c:tx>
            <c:strRef>
              <c:f>Sheet1!$C$1</c:f>
              <c:strCache>
                <c:ptCount val="1"/>
                <c:pt idx="0">
                  <c:v>Nov-2024</c:v>
                </c:pt>
              </c:strCache>
            </c:strRef>
          </c:tx>
          <c:spPr>
            <a:solidFill>
              <a:srgbClr val="7A9A4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Brazil</c:v>
                  </c:pt>
                  <c:pt idx="1">
                    <c:v>India</c:v>
                  </c:pt>
                  <c:pt idx="2">
                    <c:v>Indonesia</c:v>
                  </c:pt>
                  <c:pt idx="3">
                    <c:v>Mexico</c:v>
                  </c:pt>
                  <c:pt idx="4">
                    <c:v>Nigeria</c:v>
                  </c:pt>
                  <c:pt idx="5">
                    <c:v>Philippines</c:v>
                  </c:pt>
                </c:lvl>
              </c:multiLvlStrCache>
            </c:multiLvlStrRef>
          </c:cat>
          <c:val>
            <c:numRef>
              <c:f>Sheet1!$C$2:$C$7</c:f>
              <c:numCache>
                <c:formatCode>General</c:formatCode>
                <c:ptCount val="6"/>
                <c:pt idx="0">
                  <c:v>295100</c:v>
                </c:pt>
                <c:pt idx="1">
                  <c:v>207451</c:v>
                </c:pt>
                <c:pt idx="2">
                  <c:v>257782</c:v>
                </c:pt>
                <c:pt idx="3">
                  <c:v>197063</c:v>
                </c:pt>
                <c:pt idx="4">
                  <c:v>121267</c:v>
                </c:pt>
                <c:pt idx="5">
                  <c:v>153250</c:v>
                </c:pt>
              </c:numCache>
            </c:numRef>
          </c:val>
        </c:ser>
        <c:ser>
          <c:idx val="2"/>
          <c:order val="2"/>
          <c:tx>
            <c:strRef>
              <c:f>Sheet1!$D$1</c:f>
              <c:strCache>
                <c:ptCount val="1"/>
                <c:pt idx="0">
                  <c:v>Dec-2024</c:v>
                </c:pt>
              </c:strCache>
            </c:strRef>
          </c:tx>
          <c:spPr>
            <a:solidFill>
              <a:srgbClr val="2C5F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Brazil</c:v>
                  </c:pt>
                  <c:pt idx="1">
                    <c:v>India</c:v>
                  </c:pt>
                  <c:pt idx="2">
                    <c:v>Indonesia</c:v>
                  </c:pt>
                  <c:pt idx="3">
                    <c:v>Mexico</c:v>
                  </c:pt>
                  <c:pt idx="4">
                    <c:v>Nigeria</c:v>
                  </c:pt>
                  <c:pt idx="5">
                    <c:v>Philippines</c:v>
                  </c:pt>
                </c:lvl>
              </c:multiLvlStrCache>
            </c:multiLvlStrRef>
          </c:cat>
          <c:val>
            <c:numRef>
              <c:f>Sheet1!$D$2:$D$7</c:f>
              <c:numCache>
                <c:formatCode>General</c:formatCode>
                <c:ptCount val="6"/>
                <c:pt idx="0">
                  <c:v>309317</c:v>
                </c:pt>
                <c:pt idx="1">
                  <c:v>223045</c:v>
                </c:pt>
                <c:pt idx="2">
                  <c:v>273943</c:v>
                </c:pt>
                <c:pt idx="3">
                  <c:v>196119</c:v>
                </c:pt>
                <c:pt idx="4">
                  <c:v>124524</c:v>
                </c:pt>
                <c:pt idx="5">
                  <c:v>153211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5E7EB"/>
              </a:solidFill>
              <a:prstDash val="solid"/>
              <a:round/>
            </a:ln>
          </c:spPr>
        </c:majorGridlines>
        <c:title>
          <c:tx>
            <c:rich>
              <a:bodyPr/>
              <a:lstStyle/>
              <a:p>
                <a:pPr>
                  <a:defRPr sz="1100" b="0" i="0" u="none" strike="noStrike">
                    <a:solidFill>
                      <a:srgbClr val="6B7280"/>
                    </a:solidFill>
                    <a:latin typeface="Arial"/>
                  </a:defRPr>
                </a:pPr>
                <a:r>
                  <a:rPr sz="1100" b="0" i="0" u="none" strike="noStrike">
                    <a:solidFill>
                      <a:srgbClr val="6B7280"/>
                    </a:solidFill>
                    <a:latin typeface="Arial"/>
                  </a:rPr>
                  <a:t>Forecast revenue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5F2D"/>
        </a:solidFill>
      </p:bgPr>
    </p:bg>
    <p:spTree>
      <p:nvGrpSpPr>
        <p:cNvPr id="1" name=""/>
        <p:cNvGrpSpPr/>
        <p:nvPr/>
      </p:nvGrpSpPr>
      <p:grpSpPr>
        <a:xfrm>
          <a:off x="0" y="0"/>
          <a:ext cx="0" cy="0"/>
          <a:chOff x="0" y="0"/>
          <a:chExt cx="0" cy="0"/>
        </a:xfrm>
      </p:grpSpPr>
      <p:sp>
        <p:nvSpPr>
          <p:cNvPr id="2" name="Text 0"/>
          <p:cNvSpPr/>
          <p:nvPr/>
        </p:nvSpPr>
        <p:spPr>
          <a:xfrm>
            <a:off x="822960" y="2194560"/>
            <a:ext cx="10515600" cy="118872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Revenue Analysis &amp; Forecast</a:t>
            </a:r>
            <a:endParaRPr lang="en-US" sz="4000" dirty="0"/>
          </a:p>
        </p:txBody>
      </p:sp>
      <p:sp>
        <p:nvSpPr>
          <p:cNvPr id="3" name="Text 1"/>
          <p:cNvSpPr/>
          <p:nvPr/>
        </p:nvSpPr>
        <p:spPr>
          <a:xfrm>
            <a:off x="822960" y="3291840"/>
            <a:ext cx="10515600" cy="548640"/>
          </a:xfrm>
          <a:prstGeom prst="rect">
            <a:avLst/>
          </a:prstGeom>
          <a:noFill/>
          <a:ln/>
        </p:spPr>
        <p:txBody>
          <a:bodyPr wrap="square" rtlCol="0" anchor="ctr"/>
          <a:lstStyle/>
          <a:p>
            <a:pPr indent="0" marL="0">
              <a:buNone/>
            </a:pPr>
            <a:r>
              <a:rPr lang="en-US" sz="2000" dirty="0">
                <a:solidFill>
                  <a:srgbClr val="DCEAC7"/>
                </a:solidFill>
                <a:latin typeface="Calibri" pitchFamily="34" charset="0"/>
                <a:ea typeface="Calibri" pitchFamily="34" charset="-122"/>
                <a:cs typeface="Calibri" pitchFamily="34" charset="-120"/>
              </a:rPr>
              <a:t>Part B — Trend Analysis &amp; Q4 2024 Forecast</a:t>
            </a:r>
            <a:endParaRPr lang="en-US" sz="2000" dirty="0"/>
          </a:p>
        </p:txBody>
      </p:sp>
      <p:sp>
        <p:nvSpPr>
          <p:cNvPr id="4" name="Text 2"/>
          <p:cNvSpPr/>
          <p:nvPr/>
        </p:nvSpPr>
        <p:spPr>
          <a:xfrm>
            <a:off x="822960" y="3931920"/>
            <a:ext cx="10515600" cy="457200"/>
          </a:xfrm>
          <a:prstGeom prst="rect">
            <a:avLst/>
          </a:prstGeom>
          <a:noFill/>
          <a:ln/>
        </p:spPr>
        <p:txBody>
          <a:bodyPr wrap="square" rtlCol="0" anchor="ctr"/>
          <a:lstStyle/>
          <a:p>
            <a:pPr indent="0" marL="0">
              <a:buNone/>
            </a:pPr>
            <a:r>
              <a:rPr lang="en-US" sz="1600" b="1" dirty="0">
                <a:solidFill>
                  <a:srgbClr val="DCEAC7"/>
                </a:solidFill>
                <a:latin typeface="Calibri" pitchFamily="34" charset="0"/>
                <a:ea typeface="Calibri" pitchFamily="34" charset="-122"/>
                <a:cs typeface="Calibri" pitchFamily="34" charset="-120"/>
              </a:rPr>
              <a:t>6 markets  ·  21 months of history (Jan 2023–Sep 2024)  ·  forecasting Oct–Dec 2024</a:t>
            </a:r>
            <a:endParaRPr lang="en-US" sz="1600" dirty="0"/>
          </a:p>
        </p:txBody>
      </p:sp>
      <p:sp>
        <p:nvSpPr>
          <p:cNvPr id="5" name="Text 3"/>
          <p:cNvSpPr/>
          <p:nvPr/>
        </p:nvSpPr>
        <p:spPr>
          <a:xfrm>
            <a:off x="822960" y="5760720"/>
            <a:ext cx="10515600" cy="411480"/>
          </a:xfrm>
          <a:prstGeom prst="rect">
            <a:avLst/>
          </a:prstGeom>
          <a:noFill/>
          <a:ln/>
        </p:spPr>
        <p:txBody>
          <a:bodyPr wrap="square" rtlCol="0" anchor="ctr"/>
          <a:lstStyle/>
          <a:p>
            <a:pPr indent="0" marL="0">
              <a:buNone/>
            </a:pPr>
            <a:r>
              <a:rPr lang="en-US" sz="1500" i="1" dirty="0">
                <a:solidFill>
                  <a:srgbClr val="FFFFFF"/>
                </a:solidFill>
                <a:latin typeface="Calibri" pitchFamily="34" charset="0"/>
                <a:ea typeface="Calibri" pitchFamily="34" charset="-122"/>
                <a:cs typeface="Calibri" pitchFamily="34" charset="-120"/>
              </a:rPr>
              <a:t>Abdulla Abdullayev    |    14/07/2026</a:t>
            </a:r>
            <a:endParaRPr lang="en-US" sz="1500" dirty="0"/>
          </a:p>
        </p:txBody>
      </p:sp>
      <p:sp>
        <p:nvSpPr>
          <p:cNvPr id="6" name="Shape 4"/>
          <p:cNvSpPr/>
          <p:nvPr/>
        </p:nvSpPr>
        <p:spPr>
          <a:xfrm>
            <a:off x="822960" y="2011680"/>
            <a:ext cx="1005840" cy="54864"/>
          </a:xfrm>
          <a:prstGeom prst="rect">
            <a:avLst/>
          </a:prstGeom>
          <a:solidFill>
            <a:srgbClr val="E8635A"/>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515600" cy="594360"/>
          </a:xfrm>
          <a:prstGeom prst="rect">
            <a:avLst/>
          </a:prstGeom>
          <a:noFill/>
          <a:ln/>
        </p:spPr>
        <p:txBody>
          <a:bodyPr wrap="square" rtlCol="0" anchor="ctr"/>
          <a:lstStyle/>
          <a:p>
            <a:pPr indent="0" marL="0">
              <a:buNone/>
            </a:pPr>
            <a:r>
              <a:rPr lang="en-US" sz="2600" b="1" dirty="0">
                <a:solidFill>
                  <a:srgbClr val="2C5F2D"/>
                </a:solidFill>
                <a:latin typeface="Cambria" pitchFamily="34" charset="0"/>
                <a:ea typeface="Cambria" pitchFamily="34" charset="-122"/>
                <a:cs typeface="Cambria" pitchFamily="34" charset="-120"/>
              </a:rPr>
              <a:t>Executive Summary</a:t>
            </a:r>
            <a:endParaRPr lang="en-US" sz="2600" dirty="0"/>
          </a:p>
        </p:txBody>
      </p:sp>
      <p:sp>
        <p:nvSpPr>
          <p:cNvPr id="3" name="Shape 1"/>
          <p:cNvSpPr/>
          <p:nvPr/>
        </p:nvSpPr>
        <p:spPr>
          <a:xfrm>
            <a:off x="548640" y="1417320"/>
            <a:ext cx="2651760" cy="1554480"/>
          </a:xfrm>
          <a:prstGeom prst="roundRect">
            <a:avLst>
              <a:gd name="adj" fmla="val 4706"/>
            </a:avLst>
          </a:prstGeom>
          <a:solidFill>
            <a:srgbClr val="F7F8FB"/>
          </a:solidFill>
          <a:ln/>
        </p:spPr>
      </p:sp>
      <p:sp>
        <p:nvSpPr>
          <p:cNvPr id="4" name="Text 2"/>
          <p:cNvSpPr/>
          <p:nvPr/>
        </p:nvSpPr>
        <p:spPr>
          <a:xfrm>
            <a:off x="777240" y="1527048"/>
            <a:ext cx="2194560" cy="854964"/>
          </a:xfrm>
          <a:prstGeom prst="rect">
            <a:avLst/>
          </a:prstGeom>
          <a:noFill/>
          <a:ln/>
        </p:spPr>
        <p:txBody>
          <a:bodyPr wrap="square" rtlCol="0" anchor="b"/>
          <a:lstStyle/>
          <a:p>
            <a:pPr indent="0" marL="0">
              <a:buNone/>
            </a:pPr>
            <a:r>
              <a:rPr lang="en-US" sz="2800" b="1" dirty="0">
                <a:solidFill>
                  <a:srgbClr val="2C5F2D"/>
                </a:solidFill>
                <a:latin typeface="Cambria" pitchFamily="34" charset="0"/>
                <a:ea typeface="Cambria" pitchFamily="34" charset="-122"/>
                <a:cs typeface="Cambria" pitchFamily="34" charset="-120"/>
              </a:rPr>
              <a:t>+25.9%</a:t>
            </a:r>
            <a:endParaRPr lang="en-US" sz="2800" dirty="0"/>
          </a:p>
        </p:txBody>
      </p:sp>
      <p:sp>
        <p:nvSpPr>
          <p:cNvPr id="5" name="Text 3"/>
          <p:cNvSpPr/>
          <p:nvPr/>
        </p:nvSpPr>
        <p:spPr>
          <a:xfrm>
            <a:off x="777240" y="2350008"/>
            <a:ext cx="2194560" cy="341986"/>
          </a:xfrm>
          <a:prstGeom prst="rect">
            <a:avLst/>
          </a:prstGeom>
          <a:noFill/>
          <a:ln/>
        </p:spPr>
        <p:txBody>
          <a:bodyPr wrap="square" rtlCol="0" anchor="ctr"/>
          <a:lstStyle/>
          <a:p>
            <a:pPr indent="0" marL="0">
              <a:buNone/>
            </a:pPr>
            <a:r>
              <a:rPr lang="en-US" sz="1200" b="1" dirty="0">
                <a:solidFill>
                  <a:srgbClr val="333333"/>
                </a:solidFill>
                <a:latin typeface="Calibri" pitchFamily="34" charset="0"/>
                <a:ea typeface="Calibri" pitchFamily="34" charset="-122"/>
                <a:cs typeface="Calibri" pitchFamily="34" charset="-120"/>
              </a:rPr>
              <a:t>YTD growth (Jan–Sep, aggregate)</a:t>
            </a:r>
            <a:endParaRPr lang="en-US" sz="1200" dirty="0"/>
          </a:p>
        </p:txBody>
      </p:sp>
      <p:sp>
        <p:nvSpPr>
          <p:cNvPr id="6" name="Text 4"/>
          <p:cNvSpPr/>
          <p:nvPr/>
        </p:nvSpPr>
        <p:spPr>
          <a:xfrm>
            <a:off x="777240" y="2629814"/>
            <a:ext cx="2194560" cy="310896"/>
          </a:xfrm>
          <a:prstGeom prst="rect">
            <a:avLst/>
          </a:prstGeom>
          <a:noFill/>
          <a:ln/>
        </p:spPr>
        <p:txBody>
          <a:bodyPr wrap="square"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2024 vs 2023</a:t>
            </a:r>
            <a:endParaRPr lang="en-US" sz="1000" dirty="0"/>
          </a:p>
        </p:txBody>
      </p:sp>
      <p:sp>
        <p:nvSpPr>
          <p:cNvPr id="7" name="Shape 5"/>
          <p:cNvSpPr/>
          <p:nvPr/>
        </p:nvSpPr>
        <p:spPr>
          <a:xfrm>
            <a:off x="3337560" y="1417320"/>
            <a:ext cx="2651760" cy="1554480"/>
          </a:xfrm>
          <a:prstGeom prst="roundRect">
            <a:avLst>
              <a:gd name="adj" fmla="val 4706"/>
            </a:avLst>
          </a:prstGeom>
          <a:solidFill>
            <a:srgbClr val="F7F8FB"/>
          </a:solidFill>
          <a:ln/>
        </p:spPr>
      </p:sp>
      <p:sp>
        <p:nvSpPr>
          <p:cNvPr id="8" name="Text 6"/>
          <p:cNvSpPr/>
          <p:nvPr/>
        </p:nvSpPr>
        <p:spPr>
          <a:xfrm>
            <a:off x="3566160" y="1527048"/>
            <a:ext cx="2194560" cy="854964"/>
          </a:xfrm>
          <a:prstGeom prst="rect">
            <a:avLst/>
          </a:prstGeom>
          <a:noFill/>
          <a:ln/>
        </p:spPr>
        <p:txBody>
          <a:bodyPr wrap="square" rtlCol="0" anchor="b"/>
          <a:lstStyle/>
          <a:p>
            <a:pPr indent="0" marL="0">
              <a:buNone/>
            </a:pPr>
            <a:r>
              <a:rPr lang="en-US" sz="2800" b="1" dirty="0">
                <a:solidFill>
                  <a:srgbClr val="7A9A4E"/>
                </a:solidFill>
                <a:latin typeface="Cambria" pitchFamily="34" charset="0"/>
                <a:ea typeface="Cambria" pitchFamily="34" charset="-122"/>
                <a:cs typeface="Cambria" pitchFamily="34" charset="-120"/>
              </a:rPr>
              <a:t>+34.9%</a:t>
            </a:r>
            <a:endParaRPr lang="en-US" sz="2800" dirty="0"/>
          </a:p>
        </p:txBody>
      </p:sp>
      <p:sp>
        <p:nvSpPr>
          <p:cNvPr id="9" name="Text 7"/>
          <p:cNvSpPr/>
          <p:nvPr/>
        </p:nvSpPr>
        <p:spPr>
          <a:xfrm>
            <a:off x="3566160" y="2350008"/>
            <a:ext cx="2194560" cy="341986"/>
          </a:xfrm>
          <a:prstGeom prst="rect">
            <a:avLst/>
          </a:prstGeom>
          <a:noFill/>
          <a:ln/>
        </p:spPr>
        <p:txBody>
          <a:bodyPr wrap="square" rtlCol="0" anchor="ctr"/>
          <a:lstStyle/>
          <a:p>
            <a:pPr indent="0" marL="0">
              <a:buNone/>
            </a:pPr>
            <a:r>
              <a:rPr lang="en-US" sz="1200" b="1" dirty="0">
                <a:solidFill>
                  <a:srgbClr val="333333"/>
                </a:solidFill>
                <a:latin typeface="Calibri" pitchFamily="34" charset="0"/>
                <a:ea typeface="Calibri" pitchFamily="34" charset="-122"/>
                <a:cs typeface="Calibri" pitchFamily="34" charset="-120"/>
              </a:rPr>
              <a:t>Fastest-growing market</a:t>
            </a:r>
            <a:endParaRPr lang="en-US" sz="1200" dirty="0"/>
          </a:p>
        </p:txBody>
      </p:sp>
      <p:sp>
        <p:nvSpPr>
          <p:cNvPr id="10" name="Text 8"/>
          <p:cNvSpPr/>
          <p:nvPr/>
        </p:nvSpPr>
        <p:spPr>
          <a:xfrm>
            <a:off x="3566160" y="2629814"/>
            <a:ext cx="2194560" cy="310896"/>
          </a:xfrm>
          <a:prstGeom prst="rect">
            <a:avLst/>
          </a:prstGeom>
          <a:noFill/>
          <a:ln/>
        </p:spPr>
        <p:txBody>
          <a:bodyPr wrap="square"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India</a:t>
            </a:r>
            <a:endParaRPr lang="en-US" sz="1000" dirty="0"/>
          </a:p>
        </p:txBody>
      </p:sp>
      <p:sp>
        <p:nvSpPr>
          <p:cNvPr id="11" name="Shape 9"/>
          <p:cNvSpPr/>
          <p:nvPr/>
        </p:nvSpPr>
        <p:spPr>
          <a:xfrm>
            <a:off x="6126480" y="1417320"/>
            <a:ext cx="2651760" cy="1554480"/>
          </a:xfrm>
          <a:prstGeom prst="roundRect">
            <a:avLst>
              <a:gd name="adj" fmla="val 4706"/>
            </a:avLst>
          </a:prstGeom>
          <a:solidFill>
            <a:srgbClr val="F7F8FB"/>
          </a:solidFill>
          <a:ln/>
        </p:spPr>
      </p:sp>
      <p:sp>
        <p:nvSpPr>
          <p:cNvPr id="12" name="Text 10"/>
          <p:cNvSpPr/>
          <p:nvPr/>
        </p:nvSpPr>
        <p:spPr>
          <a:xfrm>
            <a:off x="6355080" y="1527048"/>
            <a:ext cx="2194560" cy="854964"/>
          </a:xfrm>
          <a:prstGeom prst="rect">
            <a:avLst/>
          </a:prstGeom>
          <a:noFill/>
          <a:ln/>
        </p:spPr>
        <p:txBody>
          <a:bodyPr wrap="square" rtlCol="0" anchor="b"/>
          <a:lstStyle/>
          <a:p>
            <a:pPr indent="0" marL="0">
              <a:buNone/>
            </a:pPr>
            <a:r>
              <a:rPr lang="en-US" sz="2800" b="1" dirty="0">
                <a:solidFill>
                  <a:srgbClr val="2C5F2D"/>
                </a:solidFill>
                <a:latin typeface="Cambria" pitchFamily="34" charset="0"/>
                <a:ea typeface="Cambria" pitchFamily="34" charset="-122"/>
                <a:cs typeface="Cambria" pitchFamily="34" charset="-120"/>
              </a:rPr>
              <a:t>$3.62M</a:t>
            </a:r>
            <a:endParaRPr lang="en-US" sz="2800" dirty="0"/>
          </a:p>
        </p:txBody>
      </p:sp>
      <p:sp>
        <p:nvSpPr>
          <p:cNvPr id="13" name="Text 11"/>
          <p:cNvSpPr/>
          <p:nvPr/>
        </p:nvSpPr>
        <p:spPr>
          <a:xfrm>
            <a:off x="6355080" y="2350008"/>
            <a:ext cx="2194560" cy="341986"/>
          </a:xfrm>
          <a:prstGeom prst="rect">
            <a:avLst/>
          </a:prstGeom>
          <a:noFill/>
          <a:ln/>
        </p:spPr>
        <p:txBody>
          <a:bodyPr wrap="square" rtlCol="0" anchor="ctr"/>
          <a:lstStyle/>
          <a:p>
            <a:pPr indent="0" marL="0">
              <a:buNone/>
            </a:pPr>
            <a:r>
              <a:rPr lang="en-US" sz="1200" b="1" dirty="0">
                <a:solidFill>
                  <a:srgbClr val="333333"/>
                </a:solidFill>
                <a:latin typeface="Calibri" pitchFamily="34" charset="0"/>
                <a:ea typeface="Calibri" pitchFamily="34" charset="-122"/>
                <a:cs typeface="Calibri" pitchFamily="34" charset="-120"/>
              </a:rPr>
              <a:t>Forecast Q4 2024 revenue</a:t>
            </a:r>
            <a:endParaRPr lang="en-US" sz="1200" dirty="0"/>
          </a:p>
        </p:txBody>
      </p:sp>
      <p:sp>
        <p:nvSpPr>
          <p:cNvPr id="14" name="Text 12"/>
          <p:cNvSpPr/>
          <p:nvPr/>
        </p:nvSpPr>
        <p:spPr>
          <a:xfrm>
            <a:off x="6355080" y="2629814"/>
            <a:ext cx="2194560" cy="310896"/>
          </a:xfrm>
          <a:prstGeom prst="rect">
            <a:avLst/>
          </a:prstGeom>
          <a:noFill/>
          <a:ln/>
        </p:spPr>
        <p:txBody>
          <a:bodyPr wrap="square"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all 6 markets</a:t>
            </a:r>
            <a:endParaRPr lang="en-US" sz="1000" dirty="0"/>
          </a:p>
        </p:txBody>
      </p:sp>
      <p:sp>
        <p:nvSpPr>
          <p:cNvPr id="15" name="Shape 13"/>
          <p:cNvSpPr/>
          <p:nvPr/>
        </p:nvSpPr>
        <p:spPr>
          <a:xfrm>
            <a:off x="8915400" y="1417320"/>
            <a:ext cx="2724912" cy="1554480"/>
          </a:xfrm>
          <a:prstGeom prst="roundRect">
            <a:avLst>
              <a:gd name="adj" fmla="val 4706"/>
            </a:avLst>
          </a:prstGeom>
          <a:solidFill>
            <a:srgbClr val="F7F8FB"/>
          </a:solidFill>
          <a:ln/>
        </p:spPr>
      </p:sp>
      <p:sp>
        <p:nvSpPr>
          <p:cNvPr id="16" name="Text 14"/>
          <p:cNvSpPr/>
          <p:nvPr/>
        </p:nvSpPr>
        <p:spPr>
          <a:xfrm>
            <a:off x="9144000" y="1527048"/>
            <a:ext cx="2267712" cy="854964"/>
          </a:xfrm>
          <a:prstGeom prst="rect">
            <a:avLst/>
          </a:prstGeom>
          <a:noFill/>
          <a:ln/>
        </p:spPr>
        <p:txBody>
          <a:bodyPr wrap="square" rtlCol="0" anchor="b"/>
          <a:lstStyle/>
          <a:p>
            <a:pPr indent="0" marL="0">
              <a:buNone/>
            </a:pPr>
            <a:r>
              <a:rPr lang="en-US" sz="2800" b="1" dirty="0">
                <a:solidFill>
                  <a:srgbClr val="E8635A"/>
                </a:solidFill>
                <a:latin typeface="Cambria" pitchFamily="34" charset="0"/>
                <a:ea typeface="Cambria" pitchFamily="34" charset="-122"/>
                <a:cs typeface="Cambria" pitchFamily="34" charset="-120"/>
              </a:rPr>
              <a:t>1</a:t>
            </a:r>
            <a:endParaRPr lang="en-US" sz="2800" dirty="0"/>
          </a:p>
        </p:txBody>
      </p:sp>
      <p:sp>
        <p:nvSpPr>
          <p:cNvPr id="17" name="Text 15"/>
          <p:cNvSpPr/>
          <p:nvPr/>
        </p:nvSpPr>
        <p:spPr>
          <a:xfrm>
            <a:off x="9144000" y="2350008"/>
            <a:ext cx="2267712" cy="341986"/>
          </a:xfrm>
          <a:prstGeom prst="rect">
            <a:avLst/>
          </a:prstGeom>
          <a:noFill/>
          <a:ln/>
        </p:spPr>
        <p:txBody>
          <a:bodyPr wrap="square" rtlCol="0" anchor="ctr"/>
          <a:lstStyle/>
          <a:p>
            <a:pPr indent="0" marL="0">
              <a:buNone/>
            </a:pPr>
            <a:r>
              <a:rPr lang="en-US" sz="1200" b="1" dirty="0">
                <a:solidFill>
                  <a:srgbClr val="333333"/>
                </a:solidFill>
                <a:latin typeface="Calibri" pitchFamily="34" charset="0"/>
                <a:ea typeface="Calibri" pitchFamily="34" charset="-122"/>
                <a:cs typeface="Calibri" pitchFamily="34" charset="-120"/>
              </a:rPr>
              <a:t>Anomaly flagged</a:t>
            </a:r>
            <a:endParaRPr lang="en-US" sz="1200" dirty="0"/>
          </a:p>
        </p:txBody>
      </p:sp>
      <p:sp>
        <p:nvSpPr>
          <p:cNvPr id="18" name="Text 16"/>
          <p:cNvSpPr/>
          <p:nvPr/>
        </p:nvSpPr>
        <p:spPr>
          <a:xfrm>
            <a:off x="9144000" y="2629814"/>
            <a:ext cx="2267712" cy="310896"/>
          </a:xfrm>
          <a:prstGeom prst="rect">
            <a:avLst/>
          </a:prstGeom>
          <a:noFill/>
          <a:ln/>
        </p:spPr>
        <p:txBody>
          <a:bodyPr wrap="square"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Nigeria, Jun–Jul 2024</a:t>
            </a:r>
            <a:endParaRPr lang="en-US" sz="1000" dirty="0"/>
          </a:p>
        </p:txBody>
      </p:sp>
      <p:sp>
        <p:nvSpPr>
          <p:cNvPr id="19" name="Text 17"/>
          <p:cNvSpPr/>
          <p:nvPr/>
        </p:nvSpPr>
        <p:spPr>
          <a:xfrm>
            <a:off x="548640" y="3337560"/>
            <a:ext cx="5486400" cy="365760"/>
          </a:xfrm>
          <a:prstGeom prst="rect">
            <a:avLst/>
          </a:prstGeom>
          <a:noFill/>
          <a:ln/>
        </p:spPr>
        <p:txBody>
          <a:bodyPr wrap="square" rtlCol="0" anchor="ctr"/>
          <a:lstStyle/>
          <a:p>
            <a:pPr indent="0" marL="0">
              <a:buNone/>
            </a:pPr>
            <a:r>
              <a:rPr lang="en-US" sz="1500" b="1" dirty="0">
                <a:solidFill>
                  <a:srgbClr val="2C5F2D"/>
                </a:solidFill>
                <a:latin typeface="Calibri" pitchFamily="34" charset="0"/>
                <a:ea typeface="Calibri" pitchFamily="34" charset="-122"/>
                <a:cs typeface="Calibri" pitchFamily="34" charset="-120"/>
              </a:rPr>
              <a:t>What the data says</a:t>
            </a:r>
            <a:endParaRPr lang="en-US" sz="1500" dirty="0"/>
          </a:p>
        </p:txBody>
      </p:sp>
      <p:sp>
        <p:nvSpPr>
          <p:cNvPr id="20" name="Shape 18"/>
          <p:cNvSpPr/>
          <p:nvPr/>
        </p:nvSpPr>
        <p:spPr>
          <a:xfrm>
            <a:off x="548640" y="3831336"/>
            <a:ext cx="100584" cy="100584"/>
          </a:xfrm>
          <a:prstGeom prst="ellipse">
            <a:avLst/>
          </a:prstGeom>
          <a:solidFill>
            <a:srgbClr val="E8635A"/>
          </a:solidFill>
          <a:ln/>
        </p:spPr>
      </p:sp>
      <p:sp>
        <p:nvSpPr>
          <p:cNvPr id="21" name="Text 19"/>
          <p:cNvSpPr/>
          <p:nvPr/>
        </p:nvSpPr>
        <p:spPr>
          <a:xfrm>
            <a:off x="868680" y="3657600"/>
            <a:ext cx="10698480" cy="731520"/>
          </a:xfrm>
          <a:prstGeom prst="rect">
            <a:avLst/>
          </a:prstGeom>
          <a:noFill/>
          <a:ln/>
        </p:spPr>
        <p:txBody>
          <a:bodyPr wrap="square" rtlCol="0" anchor="t"/>
          <a:lstStyle/>
          <a:p>
            <a:pPr indent="0" marL="0">
              <a:lnSpc>
                <a:spcPct val="120000"/>
              </a:lnSpc>
              <a:buNone/>
            </a:pPr>
            <a:r>
              <a:rPr lang="en-US" sz="1350" dirty="0">
                <a:solidFill>
                  <a:srgbClr val="333333"/>
                </a:solidFill>
                <a:latin typeface="Calibri" pitchFamily="34" charset="0"/>
                <a:ea typeface="Calibri" pitchFamily="34" charset="-122"/>
                <a:cs typeface="Calibri" pitchFamily="34" charset="-120"/>
              </a:rPr>
              <a:t>Every market is growing double digits YTD (18–35%), and the growth is broad-based, not concentrated in one country.</a:t>
            </a:r>
            <a:endParaRPr lang="en-US" sz="1350" dirty="0"/>
          </a:p>
        </p:txBody>
      </p:sp>
      <p:sp>
        <p:nvSpPr>
          <p:cNvPr id="22" name="Shape 20"/>
          <p:cNvSpPr/>
          <p:nvPr/>
        </p:nvSpPr>
        <p:spPr>
          <a:xfrm>
            <a:off x="548640" y="4672584"/>
            <a:ext cx="100584" cy="100584"/>
          </a:xfrm>
          <a:prstGeom prst="ellipse">
            <a:avLst/>
          </a:prstGeom>
          <a:solidFill>
            <a:srgbClr val="E8635A"/>
          </a:solidFill>
          <a:ln/>
        </p:spPr>
      </p:sp>
      <p:sp>
        <p:nvSpPr>
          <p:cNvPr id="23" name="Text 21"/>
          <p:cNvSpPr/>
          <p:nvPr/>
        </p:nvSpPr>
        <p:spPr>
          <a:xfrm>
            <a:off x="868680" y="4498848"/>
            <a:ext cx="10698480" cy="731520"/>
          </a:xfrm>
          <a:prstGeom prst="rect">
            <a:avLst/>
          </a:prstGeom>
          <a:noFill/>
          <a:ln/>
        </p:spPr>
        <p:txBody>
          <a:bodyPr wrap="square" rtlCol="0" anchor="t"/>
          <a:lstStyle/>
          <a:p>
            <a:pPr indent="0" marL="0">
              <a:lnSpc>
                <a:spcPct val="120000"/>
              </a:lnSpc>
              <a:buNone/>
            </a:pPr>
            <a:r>
              <a:rPr lang="en-US" sz="1350" dirty="0">
                <a:solidFill>
                  <a:srgbClr val="333333"/>
                </a:solidFill>
                <a:latin typeface="Calibri" pitchFamily="34" charset="0"/>
                <a:ea typeface="Calibri" pitchFamily="34" charset="-122"/>
                <a:cs typeface="Calibri" pitchFamily="34" charset="-120"/>
              </a:rPr>
              <a:t>A strong Nov–Dec seasonal spike shows up in both years, followed by a January pullback — this is a real, repeating pattern, not noise.</a:t>
            </a:r>
            <a:endParaRPr lang="en-US" sz="1350" dirty="0"/>
          </a:p>
        </p:txBody>
      </p:sp>
      <p:sp>
        <p:nvSpPr>
          <p:cNvPr id="24" name="Shape 22"/>
          <p:cNvSpPr/>
          <p:nvPr/>
        </p:nvSpPr>
        <p:spPr>
          <a:xfrm>
            <a:off x="548640" y="5513832"/>
            <a:ext cx="100584" cy="100584"/>
          </a:xfrm>
          <a:prstGeom prst="ellipse">
            <a:avLst/>
          </a:prstGeom>
          <a:solidFill>
            <a:srgbClr val="E8635A"/>
          </a:solidFill>
          <a:ln/>
        </p:spPr>
      </p:sp>
      <p:sp>
        <p:nvSpPr>
          <p:cNvPr id="25" name="Text 23"/>
          <p:cNvSpPr/>
          <p:nvPr/>
        </p:nvSpPr>
        <p:spPr>
          <a:xfrm>
            <a:off x="868680" y="5340096"/>
            <a:ext cx="10698480" cy="731520"/>
          </a:xfrm>
          <a:prstGeom prst="rect">
            <a:avLst/>
          </a:prstGeom>
          <a:noFill/>
          <a:ln/>
        </p:spPr>
        <p:txBody>
          <a:bodyPr wrap="square" rtlCol="0" anchor="t"/>
          <a:lstStyle/>
          <a:p>
            <a:pPr indent="0" marL="0">
              <a:lnSpc>
                <a:spcPct val="120000"/>
              </a:lnSpc>
              <a:buNone/>
            </a:pPr>
            <a:r>
              <a:rPr lang="en-US" sz="1350" dirty="0">
                <a:solidFill>
                  <a:srgbClr val="333333"/>
                </a:solidFill>
                <a:latin typeface="Calibri" pitchFamily="34" charset="0"/>
                <a:ea typeface="Calibri" pitchFamily="34" charset="-122"/>
                <a:cs typeface="Calibri" pitchFamily="34" charset="-120"/>
              </a:rPr>
              <a:t>Nigeria had a sharp one-month dip in June 2024 that fully reversed in July — treated as a one-off, not a trend change.</a:t>
            </a:r>
            <a:endParaRPr lang="en-US" sz="1350" dirty="0"/>
          </a:p>
        </p:txBody>
      </p:sp>
      <p:sp>
        <p:nvSpPr>
          <p:cNvPr id="26" name="Text 24"/>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Bemobi Analytics Test Task — Part B</a:t>
            </a:r>
            <a:endParaRPr lang="en-US" sz="900" dirty="0"/>
          </a:p>
        </p:txBody>
      </p:sp>
      <p:sp>
        <p:nvSpPr>
          <p:cNvPr id="27" name="Text 25"/>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515600" cy="594360"/>
          </a:xfrm>
          <a:prstGeom prst="rect">
            <a:avLst/>
          </a:prstGeom>
          <a:noFill/>
          <a:ln/>
        </p:spPr>
        <p:txBody>
          <a:bodyPr wrap="square" rtlCol="0" anchor="ctr"/>
          <a:lstStyle/>
          <a:p>
            <a:pPr indent="0" marL="0">
              <a:buNone/>
            </a:pPr>
            <a:r>
              <a:rPr lang="en-US" sz="2600" b="1" dirty="0">
                <a:solidFill>
                  <a:srgbClr val="2C5F2D"/>
                </a:solidFill>
                <a:latin typeface="Cambria" pitchFamily="34" charset="0"/>
                <a:ea typeface="Cambria" pitchFamily="34" charset="-122"/>
                <a:cs typeface="Cambria" pitchFamily="34" charset="-120"/>
              </a:rPr>
              <a:t>Aggregate Revenue Trend</a:t>
            </a:r>
            <a:endParaRPr lang="en-US" sz="2600" dirty="0"/>
          </a:p>
        </p:txBody>
      </p:sp>
      <p:sp>
        <p:nvSpPr>
          <p:cNvPr id="3" name="Text 1"/>
          <p:cNvSpPr/>
          <p:nvPr/>
        </p:nvSpPr>
        <p:spPr>
          <a:xfrm>
            <a:off x="548640" y="914400"/>
            <a:ext cx="10515600" cy="365760"/>
          </a:xfrm>
          <a:prstGeom prst="rect">
            <a:avLst/>
          </a:prstGeom>
          <a:noFill/>
          <a:ln/>
        </p:spPr>
        <p:txBody>
          <a:bodyPr wrap="square"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Total monthly revenue across all 6 markets, Jan 2023–Sep 2024</a:t>
            </a:r>
            <a:endParaRPr lang="en-US" sz="1300" dirty="0"/>
          </a:p>
        </p:txBody>
      </p:sp>
      <p:graphicFrame>
        <p:nvGraphicFramePr>
          <p:cNvPr id="4" name="Chart 0" descr=""/>
          <p:cNvGraphicFramePr/>
          <p:nvPr/>
        </p:nvGraphicFramePr>
        <p:xfrm>
          <a:off x="365760" y="1371600"/>
          <a:ext cx="11430000" cy="39319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7955280" y="1691640"/>
            <a:ext cx="2377440" cy="457200"/>
          </a:xfrm>
          <a:prstGeom prst="rect">
            <a:avLst/>
          </a:prstGeom>
          <a:noFill/>
          <a:ln/>
        </p:spPr>
        <p:txBody>
          <a:bodyPr wrap="square" rtlCol="0" anchor="ctr"/>
          <a:lstStyle/>
          <a:p>
            <a:pPr algn="ctr" indent="0" marL="0">
              <a:buNone/>
            </a:pPr>
            <a:r>
              <a:rPr lang="en-US" sz="1050" i="1" dirty="0">
                <a:solidFill>
                  <a:srgbClr val="E8635A"/>
                </a:solidFill>
                <a:latin typeface="Calibri" pitchFamily="34" charset="0"/>
                <a:ea typeface="Calibri" pitchFamily="34" charset="-122"/>
                <a:cs typeface="Calibri" pitchFamily="34" charset="-120"/>
              </a:rPr>
              <a:t>Nov–Dec spike, both years</a:t>
            </a:r>
            <a:endParaRPr lang="en-US" sz="1050" dirty="0"/>
          </a:p>
        </p:txBody>
      </p:sp>
      <p:sp>
        <p:nvSpPr>
          <p:cNvPr id="6" name="Text 3"/>
          <p:cNvSpPr/>
          <p:nvPr/>
        </p:nvSpPr>
        <p:spPr>
          <a:xfrm>
            <a:off x="2194560" y="2240280"/>
            <a:ext cx="2194560" cy="457200"/>
          </a:xfrm>
          <a:prstGeom prst="rect">
            <a:avLst/>
          </a:prstGeom>
          <a:noFill/>
          <a:ln/>
        </p:spPr>
        <p:txBody>
          <a:bodyPr wrap="square" rtlCol="0" anchor="ctr"/>
          <a:lstStyle/>
          <a:p>
            <a:pPr algn="ctr" indent="0" marL="0">
              <a:buNone/>
            </a:pPr>
            <a:r>
              <a:rPr lang="en-US" sz="1050" i="1" dirty="0">
                <a:solidFill>
                  <a:srgbClr val="7A9A4E"/>
                </a:solidFill>
                <a:latin typeface="Calibri" pitchFamily="34" charset="0"/>
                <a:ea typeface="Calibri" pitchFamily="34" charset="-122"/>
                <a:cs typeface="Calibri" pitchFamily="34" charset="-120"/>
              </a:rPr>
              <a:t>Jan pullback, both years</a:t>
            </a:r>
            <a:endParaRPr lang="en-US" sz="1050" dirty="0"/>
          </a:p>
        </p:txBody>
      </p:sp>
      <p:sp>
        <p:nvSpPr>
          <p:cNvPr id="7" name="Shape 4"/>
          <p:cNvSpPr/>
          <p:nvPr/>
        </p:nvSpPr>
        <p:spPr>
          <a:xfrm>
            <a:off x="365760" y="5440680"/>
            <a:ext cx="11430000" cy="685800"/>
          </a:xfrm>
          <a:prstGeom prst="roundRect">
            <a:avLst>
              <a:gd name="adj" fmla="val 8000"/>
            </a:avLst>
          </a:prstGeom>
          <a:solidFill>
            <a:srgbClr val="F7F8FB"/>
          </a:solidFill>
          <a:ln/>
        </p:spPr>
      </p:sp>
      <p:sp>
        <p:nvSpPr>
          <p:cNvPr id="8" name="Text 5"/>
          <p:cNvSpPr/>
          <p:nvPr/>
        </p:nvSpPr>
        <p:spPr>
          <a:xfrm>
            <a:off x="640080" y="5486400"/>
            <a:ext cx="10881360" cy="594360"/>
          </a:xfrm>
          <a:prstGeom prst="rect">
            <a:avLst/>
          </a:prstGeom>
          <a:noFill/>
          <a:ln/>
        </p:spPr>
        <p:txBody>
          <a:bodyPr wrap="square" rtlCol="0" anchor="ctr"/>
          <a:lstStyle/>
          <a:p>
            <a:pPr indent="0" marL="0">
              <a:lnSpc>
                <a:spcPct val="115000"/>
              </a:lnSpc>
              <a:buNone/>
            </a:pPr>
            <a:r>
              <a:rPr lang="en-US" sz="1250" dirty="0">
                <a:solidFill>
                  <a:srgbClr val="333333"/>
                </a:solidFill>
                <a:latin typeface="Calibri" pitchFamily="34" charset="0"/>
                <a:ea typeface="Calibri" pitchFamily="34" charset="-122"/>
                <a:cs typeface="Calibri" pitchFamily="34" charset="-120"/>
              </a:rPr>
              <a:t>Revenue has grown steadily since Jan 2023, with two consistent seasonal patterns overlaid on top of the underlying growth: a Nov–Dec spike (holiday-driven) and a January pullback right after it — both repeat in 2023 and 2024.</a:t>
            </a:r>
            <a:endParaRPr lang="en-US" sz="1250" dirty="0"/>
          </a:p>
        </p:txBody>
      </p:sp>
      <p:sp>
        <p:nvSpPr>
          <p:cNvPr id="9" name="Text 6"/>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Bemobi Analytics Test Task — Part B</a:t>
            </a:r>
            <a:endParaRPr lang="en-US" sz="900" dirty="0"/>
          </a:p>
        </p:txBody>
      </p:sp>
      <p:sp>
        <p:nvSpPr>
          <p:cNvPr id="10" name="Text 7"/>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515600" cy="594360"/>
          </a:xfrm>
          <a:prstGeom prst="rect">
            <a:avLst/>
          </a:prstGeom>
          <a:noFill/>
          <a:ln/>
        </p:spPr>
        <p:txBody>
          <a:bodyPr wrap="square" rtlCol="0" anchor="ctr"/>
          <a:lstStyle/>
          <a:p>
            <a:pPr indent="0" marL="0">
              <a:buNone/>
            </a:pPr>
            <a:r>
              <a:rPr lang="en-US" sz="2600" b="1" dirty="0">
                <a:solidFill>
                  <a:srgbClr val="2C5F2D"/>
                </a:solidFill>
                <a:latin typeface="Cambria" pitchFamily="34" charset="0"/>
                <a:ea typeface="Cambria" pitchFamily="34" charset="-122"/>
                <a:cs typeface="Cambria" pitchFamily="34" charset="-120"/>
              </a:rPr>
              <a:t>YoY Growth by Country</a:t>
            </a:r>
            <a:endParaRPr lang="en-US" sz="2600" dirty="0"/>
          </a:p>
        </p:txBody>
      </p:sp>
      <p:sp>
        <p:nvSpPr>
          <p:cNvPr id="3" name="Text 1"/>
          <p:cNvSpPr/>
          <p:nvPr/>
        </p:nvSpPr>
        <p:spPr>
          <a:xfrm>
            <a:off x="548640" y="914400"/>
            <a:ext cx="10515600" cy="365760"/>
          </a:xfrm>
          <a:prstGeom prst="rect">
            <a:avLst/>
          </a:prstGeom>
          <a:noFill/>
          <a:ln/>
        </p:spPr>
        <p:txBody>
          <a:bodyPr wrap="square"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Average year-over-year growth, Jan–Sep 2024 vs Jan–Sep 2023</a:t>
            </a:r>
            <a:endParaRPr lang="en-US" sz="1300" dirty="0"/>
          </a:p>
        </p:txBody>
      </p:sp>
      <p:graphicFrame>
        <p:nvGraphicFramePr>
          <p:cNvPr id="4" name="Chart 0" descr=""/>
          <p:cNvGraphicFramePr/>
          <p:nvPr/>
        </p:nvGraphicFramePr>
        <p:xfrm>
          <a:off x="457200" y="1463040"/>
          <a:ext cx="7589520" cy="42976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8321040" y="1463040"/>
            <a:ext cx="3383280" cy="365760"/>
          </a:xfrm>
          <a:prstGeom prst="rect">
            <a:avLst/>
          </a:prstGeom>
          <a:noFill/>
          <a:ln/>
        </p:spPr>
        <p:txBody>
          <a:bodyPr wrap="square" rtlCol="0" anchor="ctr"/>
          <a:lstStyle/>
          <a:p>
            <a:pPr indent="0" marL="0">
              <a:buNone/>
            </a:pPr>
            <a:r>
              <a:rPr lang="en-US" sz="1400" b="1" dirty="0">
                <a:solidFill>
                  <a:srgbClr val="2C5F2D"/>
                </a:solidFill>
                <a:latin typeface="Calibri" pitchFamily="34" charset="0"/>
                <a:ea typeface="Calibri" pitchFamily="34" charset="-122"/>
                <a:cs typeface="Calibri" pitchFamily="34" charset="-120"/>
              </a:rPr>
              <a:t>Aggregate: +25.9%</a:t>
            </a:r>
            <a:endParaRPr lang="en-US" sz="1400" dirty="0"/>
          </a:p>
        </p:txBody>
      </p:sp>
      <p:sp>
        <p:nvSpPr>
          <p:cNvPr id="6" name="Text 3"/>
          <p:cNvSpPr/>
          <p:nvPr/>
        </p:nvSpPr>
        <p:spPr>
          <a:xfrm>
            <a:off x="8321040" y="1965960"/>
            <a:ext cx="3383280" cy="1828800"/>
          </a:xfrm>
          <a:prstGeom prst="rect">
            <a:avLst/>
          </a:prstGeom>
          <a:noFill/>
          <a:ln/>
        </p:spPr>
        <p:txBody>
          <a:bodyPr wrap="square" rtlCol="0" anchor="t"/>
          <a:lstStyle/>
          <a:p>
            <a:pPr indent="0" marL="0">
              <a:lnSpc>
                <a:spcPct val="125000"/>
              </a:lnSpc>
              <a:buNone/>
            </a:pPr>
            <a:r>
              <a:rPr lang="en-US" sz="1250" dirty="0">
                <a:solidFill>
                  <a:srgbClr val="333333"/>
                </a:solidFill>
                <a:latin typeface="Calibri" pitchFamily="34" charset="0"/>
                <a:ea typeface="Calibri" pitchFamily="34" charset="-122"/>
                <a:cs typeface="Calibri" pitchFamily="34" charset="-120"/>
              </a:rPr>
              <a:t>Growth is broad-based — every market is up double digits, and the spread between fastest (India, +34.9%) and slowest (Mexico, +18.5%) is only ~16 points. No single market is carrying the total.</a:t>
            </a:r>
            <a:endParaRPr lang="en-US" sz="1250" dirty="0"/>
          </a:p>
        </p:txBody>
      </p:sp>
      <p:sp>
        <p:nvSpPr>
          <p:cNvPr id="7" name="Text 4"/>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Bemobi Analytics Test Task — Part B</a:t>
            </a:r>
            <a:endParaRPr lang="en-US" sz="900" dirty="0"/>
          </a:p>
        </p:txBody>
      </p:sp>
      <p:sp>
        <p:nvSpPr>
          <p:cNvPr id="8" name="Text 5"/>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515600" cy="594360"/>
          </a:xfrm>
          <a:prstGeom prst="rect">
            <a:avLst/>
          </a:prstGeom>
          <a:noFill/>
          <a:ln/>
        </p:spPr>
        <p:txBody>
          <a:bodyPr wrap="square" rtlCol="0" anchor="ctr"/>
          <a:lstStyle/>
          <a:p>
            <a:pPr indent="0" marL="0">
              <a:buNone/>
            </a:pPr>
            <a:r>
              <a:rPr lang="en-US" sz="2600" b="1" dirty="0">
                <a:solidFill>
                  <a:srgbClr val="2C5F2D"/>
                </a:solidFill>
                <a:latin typeface="Cambria" pitchFamily="34" charset="0"/>
                <a:ea typeface="Cambria" pitchFamily="34" charset="-122"/>
                <a:cs typeface="Cambria" pitchFamily="34" charset="-120"/>
              </a:rPr>
              <a:t>YTD Revenue: 2023 vs 2024</a:t>
            </a:r>
            <a:endParaRPr lang="en-US" sz="2600" dirty="0"/>
          </a:p>
        </p:txBody>
      </p:sp>
      <p:sp>
        <p:nvSpPr>
          <p:cNvPr id="3" name="Text 1"/>
          <p:cNvSpPr/>
          <p:nvPr/>
        </p:nvSpPr>
        <p:spPr>
          <a:xfrm>
            <a:off x="548640" y="914400"/>
            <a:ext cx="10515600" cy="365760"/>
          </a:xfrm>
          <a:prstGeom prst="rect">
            <a:avLst/>
          </a:prstGeom>
          <a:noFill/>
          <a:ln/>
        </p:spPr>
        <p:txBody>
          <a:bodyPr wrap="square"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Cumulative Jan–Sep revenue, by country</a:t>
            </a:r>
            <a:endParaRPr lang="en-US" sz="1300" dirty="0"/>
          </a:p>
        </p:txBody>
      </p:sp>
      <p:graphicFrame>
        <p:nvGraphicFramePr>
          <p:cNvPr id="4" name="Chart 0" descr=""/>
          <p:cNvGraphicFramePr/>
          <p:nvPr/>
        </p:nvGraphicFramePr>
        <p:xfrm>
          <a:off x="365760" y="1371600"/>
          <a:ext cx="11430000" cy="39319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365760" y="5440680"/>
            <a:ext cx="11430000" cy="685800"/>
          </a:xfrm>
          <a:prstGeom prst="roundRect">
            <a:avLst>
              <a:gd name="adj" fmla="val 8000"/>
            </a:avLst>
          </a:prstGeom>
          <a:solidFill>
            <a:srgbClr val="F7F8FB"/>
          </a:solidFill>
          <a:ln/>
        </p:spPr>
      </p:sp>
      <p:sp>
        <p:nvSpPr>
          <p:cNvPr id="6" name="Text 3"/>
          <p:cNvSpPr/>
          <p:nvPr/>
        </p:nvSpPr>
        <p:spPr>
          <a:xfrm>
            <a:off x="640080" y="5486400"/>
            <a:ext cx="10881360" cy="594360"/>
          </a:xfrm>
          <a:prstGeom prst="rect">
            <a:avLst/>
          </a:prstGeom>
          <a:noFill/>
          <a:ln/>
        </p:spPr>
        <p:txBody>
          <a:bodyPr wrap="square" rtlCol="0" anchor="ctr"/>
          <a:lstStyle/>
          <a:p>
            <a:pPr indent="0" marL="0">
              <a:lnSpc>
                <a:spcPct val="115000"/>
              </a:lnSpc>
              <a:buNone/>
            </a:pPr>
            <a:r>
              <a:rPr lang="en-US" sz="1250" dirty="0">
                <a:solidFill>
                  <a:srgbClr val="333333"/>
                </a:solidFill>
                <a:latin typeface="Calibri" pitchFamily="34" charset="0"/>
                <a:ea typeface="Calibri" pitchFamily="34" charset="-122"/>
                <a:cs typeface="Calibri" pitchFamily="34" charset="-120"/>
              </a:rPr>
              <a:t>Every market grew YTD, and Brazil and Indonesia contribute the largest absolute dollar gains even though India grew fastest in percentage terms — worth keeping both views in mind when prioritizing markets.</a:t>
            </a:r>
            <a:endParaRPr lang="en-US" sz="1250" dirty="0"/>
          </a:p>
        </p:txBody>
      </p:sp>
      <p:sp>
        <p:nvSpPr>
          <p:cNvPr id="7" name="Text 4"/>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Bemobi Analytics Test Task — Part B</a:t>
            </a:r>
            <a:endParaRPr lang="en-US" sz="900" dirty="0"/>
          </a:p>
        </p:txBody>
      </p:sp>
      <p:sp>
        <p:nvSpPr>
          <p:cNvPr id="8" name="Text 5"/>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515600" cy="594360"/>
          </a:xfrm>
          <a:prstGeom prst="rect">
            <a:avLst/>
          </a:prstGeom>
          <a:noFill/>
          <a:ln/>
        </p:spPr>
        <p:txBody>
          <a:bodyPr wrap="square" rtlCol="0" anchor="ctr"/>
          <a:lstStyle/>
          <a:p>
            <a:pPr indent="0" marL="0">
              <a:buNone/>
            </a:pPr>
            <a:r>
              <a:rPr lang="en-US" sz="2600" b="1" dirty="0">
                <a:solidFill>
                  <a:srgbClr val="2C5F2D"/>
                </a:solidFill>
                <a:latin typeface="Cambria" pitchFamily="34" charset="0"/>
                <a:ea typeface="Cambria" pitchFamily="34" charset="-122"/>
                <a:cs typeface="Cambria" pitchFamily="34" charset="-120"/>
              </a:rPr>
              <a:t>Anomalies &amp; Seasonality</a:t>
            </a:r>
            <a:endParaRPr lang="en-US" sz="2600" dirty="0"/>
          </a:p>
        </p:txBody>
      </p:sp>
      <p:graphicFrame>
        <p:nvGraphicFramePr>
          <p:cNvPr id="3" name="Chart 0" descr=""/>
          <p:cNvGraphicFramePr/>
          <p:nvPr/>
        </p:nvGraphicFramePr>
        <p:xfrm>
          <a:off x="457200" y="1417320"/>
          <a:ext cx="6035040" cy="35661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457200" y="5074920"/>
            <a:ext cx="6035040" cy="1280160"/>
          </a:xfrm>
          <a:prstGeom prst="rect">
            <a:avLst/>
          </a:prstGeom>
          <a:noFill/>
          <a:ln/>
        </p:spPr>
        <p:txBody>
          <a:bodyPr wrap="square" rtlCol="0" anchor="t"/>
          <a:lstStyle/>
          <a:p>
            <a:pPr indent="0" marL="0">
              <a:lnSpc>
                <a:spcPct val="115000"/>
              </a:lnSpc>
              <a:buNone/>
            </a:pPr>
            <a:r>
              <a:rPr lang="en-US" sz="1150" dirty="0">
                <a:solidFill>
                  <a:srgbClr val="333333"/>
                </a:solidFill>
                <a:latin typeface="Calibri" pitchFamily="34" charset="0"/>
                <a:ea typeface="Calibri" pitchFamily="34" charset="-122"/>
                <a:cs typeface="Calibri" pitchFamily="34" charset="-120"/>
              </a:rPr>
              <a:t>-25.6% MoM in June, +46.3% MoM in July — a sharp dip-and-recover not seen in any other country or month. Treated as a one-off (currency swing, payment processing gap, or one-time billing issue are plausible causes) rather than a trend change. The forecast uses only the last 3 months (Jul–Sep) specifically so this doesn't distort Nigeria's growth rate.</a:t>
            </a:r>
            <a:endParaRPr lang="en-US" sz="1150" dirty="0"/>
          </a:p>
        </p:txBody>
      </p:sp>
      <p:sp>
        <p:nvSpPr>
          <p:cNvPr id="5" name="Text 2"/>
          <p:cNvSpPr/>
          <p:nvPr/>
        </p:nvSpPr>
        <p:spPr>
          <a:xfrm>
            <a:off x="6858000" y="1417320"/>
            <a:ext cx="4846320" cy="548640"/>
          </a:xfrm>
          <a:prstGeom prst="rect">
            <a:avLst/>
          </a:prstGeom>
          <a:noFill/>
          <a:ln/>
        </p:spPr>
        <p:txBody>
          <a:bodyPr wrap="square" rtlCol="0" anchor="t"/>
          <a:lstStyle/>
          <a:p>
            <a:pPr indent="0" marL="0">
              <a:buNone/>
            </a:pPr>
            <a:r>
              <a:rPr lang="en-US" sz="1400" b="1" dirty="0">
                <a:solidFill>
                  <a:srgbClr val="2C5F2D"/>
                </a:solidFill>
                <a:latin typeface="Calibri" pitchFamily="34" charset="0"/>
                <a:ea typeface="Calibri" pitchFamily="34" charset="-122"/>
                <a:cs typeface="Calibri" pitchFamily="34" charset="-120"/>
              </a:rPr>
              <a:t>Recurring seasonal pattern (expected, not an anomaly)</a:t>
            </a:r>
            <a:endParaRPr lang="en-US" sz="1400" dirty="0"/>
          </a:p>
        </p:txBody>
      </p:sp>
      <p:sp>
        <p:nvSpPr>
          <p:cNvPr id="6" name="Shape 3"/>
          <p:cNvSpPr/>
          <p:nvPr/>
        </p:nvSpPr>
        <p:spPr>
          <a:xfrm>
            <a:off x="6858000" y="2167128"/>
            <a:ext cx="91440" cy="91440"/>
          </a:xfrm>
          <a:prstGeom prst="ellipse">
            <a:avLst/>
          </a:prstGeom>
          <a:solidFill>
            <a:srgbClr val="7A9A4E"/>
          </a:solidFill>
          <a:ln/>
        </p:spPr>
      </p:sp>
      <p:sp>
        <p:nvSpPr>
          <p:cNvPr id="7" name="Text 4"/>
          <p:cNvSpPr/>
          <p:nvPr/>
        </p:nvSpPr>
        <p:spPr>
          <a:xfrm>
            <a:off x="7132320" y="2029968"/>
            <a:ext cx="4572000" cy="274320"/>
          </a:xfrm>
          <a:prstGeom prst="rect">
            <a:avLst/>
          </a:prstGeom>
          <a:noFill/>
          <a:ln/>
        </p:spPr>
        <p:txBody>
          <a:bodyPr wrap="square" rtlCol="0" anchor="ctr"/>
          <a:lstStyle/>
          <a:p>
            <a:pPr indent="0" marL="0">
              <a:buNone/>
            </a:pPr>
            <a:r>
              <a:rPr lang="en-US" sz="1250" b="1" dirty="0">
                <a:solidFill>
                  <a:srgbClr val="2C5F2D"/>
                </a:solidFill>
                <a:latin typeface="Calibri" pitchFamily="34" charset="0"/>
                <a:ea typeface="Calibri" pitchFamily="34" charset="-122"/>
                <a:cs typeface="Calibri" pitchFamily="34" charset="-120"/>
              </a:rPr>
              <a:t>Nov–Dec spike</a:t>
            </a:r>
            <a:endParaRPr lang="en-US" sz="1250" dirty="0"/>
          </a:p>
        </p:txBody>
      </p:sp>
      <p:sp>
        <p:nvSpPr>
          <p:cNvPr id="8" name="Text 5"/>
          <p:cNvSpPr/>
          <p:nvPr/>
        </p:nvSpPr>
        <p:spPr>
          <a:xfrm>
            <a:off x="7132320" y="2286000"/>
            <a:ext cx="4572000" cy="914400"/>
          </a:xfrm>
          <a:prstGeom prst="rect">
            <a:avLst/>
          </a:prstGeom>
          <a:noFill/>
          <a:ln/>
        </p:spPr>
        <p:txBody>
          <a:bodyPr wrap="square" rtlCol="0" anchor="t"/>
          <a:lstStyle/>
          <a:p>
            <a:pPr indent="0" marL="0">
              <a:lnSpc>
                <a:spcPct val="115000"/>
              </a:lnSpc>
              <a:buNone/>
            </a:pPr>
            <a:r>
              <a:rPr lang="en-US" sz="1200" dirty="0">
                <a:solidFill>
                  <a:srgbClr val="333333"/>
                </a:solidFill>
                <a:latin typeface="Calibri" pitchFamily="34" charset="0"/>
                <a:ea typeface="Calibri" pitchFamily="34" charset="-122"/>
                <a:cs typeface="Calibri" pitchFamily="34" charset="-120"/>
              </a:rPr>
              <a:t>Every market jumps ~10–20% MoM in Nov, both 2023 and 2024-to-date trend — consistent with a holiday/year-end pattern.</a:t>
            </a:r>
            <a:endParaRPr lang="en-US" sz="1200" dirty="0"/>
          </a:p>
        </p:txBody>
      </p:sp>
      <p:sp>
        <p:nvSpPr>
          <p:cNvPr id="9" name="Shape 6"/>
          <p:cNvSpPr/>
          <p:nvPr/>
        </p:nvSpPr>
        <p:spPr>
          <a:xfrm>
            <a:off x="6858000" y="3538728"/>
            <a:ext cx="91440" cy="91440"/>
          </a:xfrm>
          <a:prstGeom prst="ellipse">
            <a:avLst/>
          </a:prstGeom>
          <a:solidFill>
            <a:srgbClr val="7A9A4E"/>
          </a:solidFill>
          <a:ln/>
        </p:spPr>
      </p:sp>
      <p:sp>
        <p:nvSpPr>
          <p:cNvPr id="10" name="Text 7"/>
          <p:cNvSpPr/>
          <p:nvPr/>
        </p:nvSpPr>
        <p:spPr>
          <a:xfrm>
            <a:off x="7132320" y="3401568"/>
            <a:ext cx="4572000" cy="274320"/>
          </a:xfrm>
          <a:prstGeom prst="rect">
            <a:avLst/>
          </a:prstGeom>
          <a:noFill/>
          <a:ln/>
        </p:spPr>
        <p:txBody>
          <a:bodyPr wrap="square" rtlCol="0" anchor="ctr"/>
          <a:lstStyle/>
          <a:p>
            <a:pPr indent="0" marL="0">
              <a:buNone/>
            </a:pPr>
            <a:r>
              <a:rPr lang="en-US" sz="1250" b="1" dirty="0">
                <a:solidFill>
                  <a:srgbClr val="2C5F2D"/>
                </a:solidFill>
                <a:latin typeface="Calibri" pitchFamily="34" charset="0"/>
                <a:ea typeface="Calibri" pitchFamily="34" charset="-122"/>
                <a:cs typeface="Calibri" pitchFamily="34" charset="-120"/>
              </a:rPr>
              <a:t>January pullback</a:t>
            </a:r>
            <a:endParaRPr lang="en-US" sz="1250" dirty="0"/>
          </a:p>
        </p:txBody>
      </p:sp>
      <p:sp>
        <p:nvSpPr>
          <p:cNvPr id="11" name="Text 8"/>
          <p:cNvSpPr/>
          <p:nvPr/>
        </p:nvSpPr>
        <p:spPr>
          <a:xfrm>
            <a:off x="7132320" y="3657600"/>
            <a:ext cx="4572000" cy="914400"/>
          </a:xfrm>
          <a:prstGeom prst="rect">
            <a:avLst/>
          </a:prstGeom>
          <a:noFill/>
          <a:ln/>
        </p:spPr>
        <p:txBody>
          <a:bodyPr wrap="square" rtlCol="0" anchor="t"/>
          <a:lstStyle/>
          <a:p>
            <a:pPr indent="0" marL="0">
              <a:lnSpc>
                <a:spcPct val="115000"/>
              </a:lnSpc>
              <a:buNone/>
            </a:pPr>
            <a:r>
              <a:rPr lang="en-US" sz="1200" dirty="0">
                <a:solidFill>
                  <a:srgbClr val="333333"/>
                </a:solidFill>
                <a:latin typeface="Calibri" pitchFamily="34" charset="0"/>
                <a:ea typeface="Calibri" pitchFamily="34" charset="-122"/>
                <a:cs typeface="Calibri" pitchFamily="34" charset="-120"/>
              </a:rPr>
              <a:t>Aggregate revenue drops ~10% MoM every January, right after the Nov–Dec peak — also consistent both years.</a:t>
            </a:r>
            <a:endParaRPr lang="en-US" sz="1200" dirty="0"/>
          </a:p>
        </p:txBody>
      </p:sp>
      <p:sp>
        <p:nvSpPr>
          <p:cNvPr id="12" name="Shape 9"/>
          <p:cNvSpPr/>
          <p:nvPr/>
        </p:nvSpPr>
        <p:spPr>
          <a:xfrm>
            <a:off x="6858000" y="4910328"/>
            <a:ext cx="91440" cy="91440"/>
          </a:xfrm>
          <a:prstGeom prst="ellipse">
            <a:avLst/>
          </a:prstGeom>
          <a:solidFill>
            <a:srgbClr val="7A9A4E"/>
          </a:solidFill>
          <a:ln/>
        </p:spPr>
      </p:sp>
      <p:sp>
        <p:nvSpPr>
          <p:cNvPr id="13" name="Text 10"/>
          <p:cNvSpPr/>
          <p:nvPr/>
        </p:nvSpPr>
        <p:spPr>
          <a:xfrm>
            <a:off x="7132320" y="4773168"/>
            <a:ext cx="4572000" cy="274320"/>
          </a:xfrm>
          <a:prstGeom prst="rect">
            <a:avLst/>
          </a:prstGeom>
          <a:noFill/>
          <a:ln/>
        </p:spPr>
        <p:txBody>
          <a:bodyPr wrap="square" rtlCol="0" anchor="ctr"/>
          <a:lstStyle/>
          <a:p>
            <a:pPr indent="0" marL="0">
              <a:buNone/>
            </a:pPr>
            <a:r>
              <a:rPr lang="en-US" sz="1250" b="1" dirty="0">
                <a:solidFill>
                  <a:srgbClr val="2C5F2D"/>
                </a:solidFill>
                <a:latin typeface="Calibri" pitchFamily="34" charset="0"/>
                <a:ea typeface="Calibri" pitchFamily="34" charset="-122"/>
                <a:cs typeface="Calibri" pitchFamily="34" charset="-120"/>
              </a:rPr>
              <a:t>Why it matters for the forecast</a:t>
            </a:r>
            <a:endParaRPr lang="en-US" sz="1250" dirty="0"/>
          </a:p>
        </p:txBody>
      </p:sp>
      <p:sp>
        <p:nvSpPr>
          <p:cNvPr id="14" name="Text 11"/>
          <p:cNvSpPr/>
          <p:nvPr/>
        </p:nvSpPr>
        <p:spPr>
          <a:xfrm>
            <a:off x="7132320" y="5029200"/>
            <a:ext cx="4572000" cy="914400"/>
          </a:xfrm>
          <a:prstGeom prst="rect">
            <a:avLst/>
          </a:prstGeom>
          <a:noFill/>
          <a:ln/>
        </p:spPr>
        <p:txBody>
          <a:bodyPr wrap="square" rtlCol="0" anchor="t"/>
          <a:lstStyle/>
          <a:p>
            <a:pPr indent="0" marL="0">
              <a:lnSpc>
                <a:spcPct val="115000"/>
              </a:lnSpc>
              <a:buNone/>
            </a:pPr>
            <a:r>
              <a:rPr lang="en-US" sz="1200" dirty="0">
                <a:solidFill>
                  <a:srgbClr val="333333"/>
                </a:solidFill>
                <a:latin typeface="Calibri" pitchFamily="34" charset="0"/>
                <a:ea typeface="Calibri" pitchFamily="34" charset="-122"/>
                <a:cs typeface="Calibri" pitchFamily="34" charset="-120"/>
              </a:rPr>
              <a:t>Because Oct–Dec is being forecast, this seasonality has to be captured, not smoothed away — which is exactly what anchoring on "same month last year" does.</a:t>
            </a:r>
            <a:endParaRPr lang="en-US" sz="1200" dirty="0"/>
          </a:p>
        </p:txBody>
      </p:sp>
      <p:sp>
        <p:nvSpPr>
          <p:cNvPr id="15" name="Text 12"/>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Bemobi Analytics Test Task — Part B</a:t>
            </a:r>
            <a:endParaRPr lang="en-US" sz="900" dirty="0"/>
          </a:p>
        </p:txBody>
      </p:sp>
      <p:sp>
        <p:nvSpPr>
          <p:cNvPr id="16" name="Text 13"/>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515600" cy="594360"/>
          </a:xfrm>
          <a:prstGeom prst="rect">
            <a:avLst/>
          </a:prstGeom>
          <a:noFill/>
          <a:ln/>
        </p:spPr>
        <p:txBody>
          <a:bodyPr wrap="square" rtlCol="0" anchor="ctr"/>
          <a:lstStyle/>
          <a:p>
            <a:pPr indent="0" marL="0">
              <a:buNone/>
            </a:pPr>
            <a:r>
              <a:rPr lang="en-US" sz="2600" b="1" dirty="0">
                <a:solidFill>
                  <a:srgbClr val="2C5F2D"/>
                </a:solidFill>
                <a:latin typeface="Cambria" pitchFamily="34" charset="0"/>
                <a:ea typeface="Cambria" pitchFamily="34" charset="-122"/>
                <a:cs typeface="Cambria" pitchFamily="34" charset="-120"/>
              </a:rPr>
              <a:t>Forecast Method</a:t>
            </a:r>
            <a:endParaRPr lang="en-US" sz="2600" dirty="0"/>
          </a:p>
        </p:txBody>
      </p:sp>
      <p:sp>
        <p:nvSpPr>
          <p:cNvPr id="3" name="Shape 1"/>
          <p:cNvSpPr/>
          <p:nvPr/>
        </p:nvSpPr>
        <p:spPr>
          <a:xfrm>
            <a:off x="548640" y="1463040"/>
            <a:ext cx="11064240" cy="1188720"/>
          </a:xfrm>
          <a:prstGeom prst="roundRect">
            <a:avLst>
              <a:gd name="adj" fmla="val 6154"/>
            </a:avLst>
          </a:prstGeom>
          <a:solidFill>
            <a:srgbClr val="F7F8FB"/>
          </a:solidFill>
          <a:ln/>
        </p:spPr>
      </p:sp>
      <p:sp>
        <p:nvSpPr>
          <p:cNvPr id="4" name="Text 2"/>
          <p:cNvSpPr/>
          <p:nvPr/>
        </p:nvSpPr>
        <p:spPr>
          <a:xfrm>
            <a:off x="822960" y="1691640"/>
            <a:ext cx="10515600" cy="731520"/>
          </a:xfrm>
          <a:prstGeom prst="rect">
            <a:avLst/>
          </a:prstGeom>
          <a:noFill/>
          <a:ln/>
        </p:spPr>
        <p:txBody>
          <a:bodyPr wrap="square" rtlCol="0" anchor="ctr"/>
          <a:lstStyle/>
          <a:p>
            <a:pPr indent="0" marL="0">
              <a:buNone/>
            </a:pPr>
            <a:r>
              <a:rPr lang="en-US" sz="1800" b="1" dirty="0">
                <a:solidFill>
                  <a:srgbClr val="2C5F2D"/>
                </a:solidFill>
                <a:latin typeface="Cambria" pitchFamily="34" charset="0"/>
                <a:ea typeface="Cambria" pitchFamily="34" charset="-122"/>
                <a:cs typeface="Cambria" pitchFamily="34" charset="-120"/>
              </a:rPr>
              <a:t>Forecast = Same month, prior year  ×  (1 + average YoY growth, last 3 observed months)</a:t>
            </a:r>
            <a:endParaRPr lang="en-US" sz="1800" dirty="0"/>
          </a:p>
        </p:txBody>
      </p:sp>
      <p:sp>
        <p:nvSpPr>
          <p:cNvPr id="5" name="Shape 3"/>
          <p:cNvSpPr/>
          <p:nvPr/>
        </p:nvSpPr>
        <p:spPr>
          <a:xfrm>
            <a:off x="548640" y="2944368"/>
            <a:ext cx="100584" cy="100584"/>
          </a:xfrm>
          <a:prstGeom prst="ellipse">
            <a:avLst/>
          </a:prstGeom>
          <a:solidFill>
            <a:srgbClr val="7A9A4E"/>
          </a:solidFill>
          <a:ln/>
        </p:spPr>
      </p:sp>
      <p:sp>
        <p:nvSpPr>
          <p:cNvPr id="6" name="Text 4"/>
          <p:cNvSpPr/>
          <p:nvPr/>
        </p:nvSpPr>
        <p:spPr>
          <a:xfrm>
            <a:off x="868680" y="2788920"/>
            <a:ext cx="10698480" cy="320040"/>
          </a:xfrm>
          <a:prstGeom prst="rect">
            <a:avLst/>
          </a:prstGeom>
          <a:noFill/>
          <a:ln/>
        </p:spPr>
        <p:txBody>
          <a:bodyPr wrap="square" rtlCol="0" anchor="ctr"/>
          <a:lstStyle/>
          <a:p>
            <a:pPr indent="0" marL="0">
              <a:buNone/>
            </a:pPr>
            <a:r>
              <a:rPr lang="en-US" sz="1350" b="1" dirty="0">
                <a:solidFill>
                  <a:srgbClr val="2C5F2D"/>
                </a:solidFill>
                <a:latin typeface="Calibri" pitchFamily="34" charset="0"/>
                <a:ea typeface="Calibri" pitchFamily="34" charset="-122"/>
                <a:cs typeface="Calibri" pitchFamily="34" charset="-120"/>
              </a:rPr>
              <a:t>Why anchor on last year's same month</a:t>
            </a:r>
            <a:endParaRPr lang="en-US" sz="1350" dirty="0"/>
          </a:p>
        </p:txBody>
      </p:sp>
      <p:sp>
        <p:nvSpPr>
          <p:cNvPr id="7" name="Text 5"/>
          <p:cNvSpPr/>
          <p:nvPr/>
        </p:nvSpPr>
        <p:spPr>
          <a:xfrm>
            <a:off x="868680" y="3108960"/>
            <a:ext cx="10698480" cy="594360"/>
          </a:xfrm>
          <a:prstGeom prst="rect">
            <a:avLst/>
          </a:prstGeom>
          <a:noFill/>
          <a:ln/>
        </p:spPr>
        <p:txBody>
          <a:bodyPr wrap="square" rtlCol="0" anchor="t"/>
          <a:lstStyle/>
          <a:p>
            <a:pPr indent="0" marL="0">
              <a:lnSpc>
                <a:spcPct val="120000"/>
              </a:lnSpc>
              <a:buNone/>
            </a:pPr>
            <a:r>
              <a:rPr lang="en-US" sz="1250" dirty="0">
                <a:solidFill>
                  <a:srgbClr val="333333"/>
                </a:solidFill>
                <a:latin typeface="Calibri" pitchFamily="34" charset="0"/>
                <a:ea typeface="Calibri" pitchFamily="34" charset="-122"/>
                <a:cs typeface="Calibri" pitchFamily="34" charset="-120"/>
              </a:rPr>
              <a:t>Automatically captures the Nov–Dec seasonality without needing a separate seasonal-index calculation — Nov/Dec 2023 already has the holiday pattern baked in.</a:t>
            </a:r>
            <a:endParaRPr lang="en-US" sz="1250" dirty="0"/>
          </a:p>
        </p:txBody>
      </p:sp>
      <p:sp>
        <p:nvSpPr>
          <p:cNvPr id="8" name="Shape 6"/>
          <p:cNvSpPr/>
          <p:nvPr/>
        </p:nvSpPr>
        <p:spPr>
          <a:xfrm>
            <a:off x="548640" y="3995928"/>
            <a:ext cx="100584" cy="100584"/>
          </a:xfrm>
          <a:prstGeom prst="ellipse">
            <a:avLst/>
          </a:prstGeom>
          <a:solidFill>
            <a:srgbClr val="7A9A4E"/>
          </a:solidFill>
          <a:ln/>
        </p:spPr>
      </p:sp>
      <p:sp>
        <p:nvSpPr>
          <p:cNvPr id="9" name="Text 7"/>
          <p:cNvSpPr/>
          <p:nvPr/>
        </p:nvSpPr>
        <p:spPr>
          <a:xfrm>
            <a:off x="868680" y="3840480"/>
            <a:ext cx="10698480" cy="320040"/>
          </a:xfrm>
          <a:prstGeom prst="rect">
            <a:avLst/>
          </a:prstGeom>
          <a:noFill/>
          <a:ln/>
        </p:spPr>
        <p:txBody>
          <a:bodyPr wrap="square" rtlCol="0" anchor="ctr"/>
          <a:lstStyle/>
          <a:p>
            <a:pPr indent="0" marL="0">
              <a:buNone/>
            </a:pPr>
            <a:r>
              <a:rPr lang="en-US" sz="1350" b="1" dirty="0">
                <a:solidFill>
                  <a:srgbClr val="2C5F2D"/>
                </a:solidFill>
                <a:latin typeface="Calibri" pitchFamily="34" charset="0"/>
                <a:ea typeface="Calibri" pitchFamily="34" charset="-122"/>
                <a:cs typeface="Calibri" pitchFamily="34" charset="-120"/>
              </a:rPr>
              <a:t>Why the last 3 months for growth rate</a:t>
            </a:r>
            <a:endParaRPr lang="en-US" sz="1350" dirty="0"/>
          </a:p>
        </p:txBody>
      </p:sp>
      <p:sp>
        <p:nvSpPr>
          <p:cNvPr id="10" name="Text 8"/>
          <p:cNvSpPr/>
          <p:nvPr/>
        </p:nvSpPr>
        <p:spPr>
          <a:xfrm>
            <a:off x="868680" y="4160520"/>
            <a:ext cx="10698480" cy="594360"/>
          </a:xfrm>
          <a:prstGeom prst="rect">
            <a:avLst/>
          </a:prstGeom>
          <a:noFill/>
          <a:ln/>
        </p:spPr>
        <p:txBody>
          <a:bodyPr wrap="square" rtlCol="0" anchor="t"/>
          <a:lstStyle/>
          <a:p>
            <a:pPr indent="0" marL="0">
              <a:lnSpc>
                <a:spcPct val="120000"/>
              </a:lnSpc>
              <a:buNone/>
            </a:pPr>
            <a:r>
              <a:rPr lang="en-US" sz="1250" dirty="0">
                <a:solidFill>
                  <a:srgbClr val="333333"/>
                </a:solidFill>
                <a:latin typeface="Calibri" pitchFamily="34" charset="0"/>
                <a:ea typeface="Calibri" pitchFamily="34" charset="-122"/>
                <a:cs typeface="Calibri" pitchFamily="34" charset="-120"/>
              </a:rPr>
              <a:t>Reflects current momentum rather than the whole year, and avoids letting Nigeria's one-off June dip distort the rate applied to all channels.</a:t>
            </a:r>
            <a:endParaRPr lang="en-US" sz="1250" dirty="0"/>
          </a:p>
        </p:txBody>
      </p:sp>
      <p:sp>
        <p:nvSpPr>
          <p:cNvPr id="11" name="Shape 9"/>
          <p:cNvSpPr/>
          <p:nvPr/>
        </p:nvSpPr>
        <p:spPr>
          <a:xfrm>
            <a:off x="548640" y="5047488"/>
            <a:ext cx="100584" cy="100584"/>
          </a:xfrm>
          <a:prstGeom prst="ellipse">
            <a:avLst/>
          </a:prstGeom>
          <a:solidFill>
            <a:srgbClr val="7A9A4E"/>
          </a:solidFill>
          <a:ln/>
        </p:spPr>
      </p:sp>
      <p:sp>
        <p:nvSpPr>
          <p:cNvPr id="12" name="Text 10"/>
          <p:cNvSpPr/>
          <p:nvPr/>
        </p:nvSpPr>
        <p:spPr>
          <a:xfrm>
            <a:off x="868680" y="4892040"/>
            <a:ext cx="10698480" cy="320040"/>
          </a:xfrm>
          <a:prstGeom prst="rect">
            <a:avLst/>
          </a:prstGeom>
          <a:noFill/>
          <a:ln/>
        </p:spPr>
        <p:txBody>
          <a:bodyPr wrap="square" rtlCol="0" anchor="ctr"/>
          <a:lstStyle/>
          <a:p>
            <a:pPr indent="0" marL="0">
              <a:buNone/>
            </a:pPr>
            <a:r>
              <a:rPr lang="en-US" sz="1350" b="1" dirty="0">
                <a:solidFill>
                  <a:srgbClr val="2C5F2D"/>
                </a:solidFill>
                <a:latin typeface="Calibri" pitchFamily="34" charset="0"/>
                <a:ea typeface="Calibri" pitchFamily="34" charset="-122"/>
                <a:cs typeface="Calibri" pitchFamily="34" charset="-120"/>
              </a:rPr>
              <a:t>Why not a more complex model</a:t>
            </a:r>
            <a:endParaRPr lang="en-US" sz="1350" dirty="0"/>
          </a:p>
        </p:txBody>
      </p:sp>
      <p:sp>
        <p:nvSpPr>
          <p:cNvPr id="13" name="Text 11"/>
          <p:cNvSpPr/>
          <p:nvPr/>
        </p:nvSpPr>
        <p:spPr>
          <a:xfrm>
            <a:off x="868680" y="5212080"/>
            <a:ext cx="10698480" cy="594360"/>
          </a:xfrm>
          <a:prstGeom prst="rect">
            <a:avLst/>
          </a:prstGeom>
          <a:noFill/>
          <a:ln/>
        </p:spPr>
        <p:txBody>
          <a:bodyPr wrap="square" rtlCol="0" anchor="t"/>
          <a:lstStyle/>
          <a:p>
            <a:pPr indent="0" marL="0">
              <a:lnSpc>
                <a:spcPct val="120000"/>
              </a:lnSpc>
              <a:buNone/>
            </a:pPr>
            <a:r>
              <a:rPr lang="en-US" sz="1250" dirty="0">
                <a:solidFill>
                  <a:srgbClr val="333333"/>
                </a:solidFill>
                <a:latin typeface="Calibri" pitchFamily="34" charset="0"/>
                <a:ea typeface="Calibri" pitchFamily="34" charset="-122"/>
                <a:cs typeface="Calibri" pitchFamily="34" charset="-120"/>
              </a:rPr>
              <a:t>The brief asked for a simple, well-justified method — with only 21 months of history, a more complex model (e.g. full seasonal decomposition) would be overfitting relative to the signal available.</a:t>
            </a:r>
            <a:endParaRPr lang="en-US" sz="1250" dirty="0"/>
          </a:p>
        </p:txBody>
      </p:sp>
      <p:sp>
        <p:nvSpPr>
          <p:cNvPr id="14" name="Text 12"/>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Bemobi Analytics Test Task — Part B</a:t>
            </a:r>
            <a:endParaRPr lang="en-US" sz="900" dirty="0"/>
          </a:p>
        </p:txBody>
      </p:sp>
      <p:sp>
        <p:nvSpPr>
          <p:cNvPr id="15" name="Text 13"/>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515600" cy="594360"/>
          </a:xfrm>
          <a:prstGeom prst="rect">
            <a:avLst/>
          </a:prstGeom>
          <a:noFill/>
          <a:ln/>
        </p:spPr>
        <p:txBody>
          <a:bodyPr wrap="square" rtlCol="0" anchor="ctr"/>
          <a:lstStyle/>
          <a:p>
            <a:pPr indent="0" marL="0">
              <a:buNone/>
            </a:pPr>
            <a:r>
              <a:rPr lang="en-US" sz="2600" b="1" dirty="0">
                <a:solidFill>
                  <a:srgbClr val="2C5F2D"/>
                </a:solidFill>
                <a:latin typeface="Cambria" pitchFamily="34" charset="0"/>
                <a:ea typeface="Cambria" pitchFamily="34" charset="-122"/>
                <a:cs typeface="Cambria" pitchFamily="34" charset="-120"/>
              </a:rPr>
              <a:t>Forecast: Oct–Dec 2024</a:t>
            </a:r>
            <a:endParaRPr lang="en-US" sz="2600" dirty="0"/>
          </a:p>
        </p:txBody>
      </p:sp>
      <p:sp>
        <p:nvSpPr>
          <p:cNvPr id="3" name="Text 1"/>
          <p:cNvSpPr/>
          <p:nvPr/>
        </p:nvSpPr>
        <p:spPr>
          <a:xfrm>
            <a:off x="548640" y="914400"/>
            <a:ext cx="10515600" cy="365760"/>
          </a:xfrm>
          <a:prstGeom prst="rect">
            <a:avLst/>
          </a:prstGeom>
          <a:noFill/>
          <a:ln/>
        </p:spPr>
        <p:txBody>
          <a:bodyPr wrap="square"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Monthly revenue by country, Q4 2024</a:t>
            </a:r>
            <a:endParaRPr lang="en-US" sz="1300" dirty="0"/>
          </a:p>
        </p:txBody>
      </p:sp>
      <p:graphicFrame>
        <p:nvGraphicFramePr>
          <p:cNvPr id="4" name="Chart 0" descr=""/>
          <p:cNvGraphicFramePr/>
          <p:nvPr/>
        </p:nvGraphicFramePr>
        <p:xfrm>
          <a:off x="365760" y="1463040"/>
          <a:ext cx="7680960" cy="36576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365760" y="5257800"/>
            <a:ext cx="11247120" cy="868680"/>
          </a:xfrm>
          <a:prstGeom prst="roundRect">
            <a:avLst>
              <a:gd name="adj" fmla="val 6316"/>
            </a:avLst>
          </a:prstGeom>
          <a:solidFill>
            <a:srgbClr val="F7F8FB"/>
          </a:solidFill>
          <a:ln/>
        </p:spPr>
      </p:sp>
      <p:sp>
        <p:nvSpPr>
          <p:cNvPr id="6" name="Text 3"/>
          <p:cNvSpPr/>
          <p:nvPr/>
        </p:nvSpPr>
        <p:spPr>
          <a:xfrm>
            <a:off x="640080" y="5303520"/>
            <a:ext cx="10698480" cy="777240"/>
          </a:xfrm>
          <a:prstGeom prst="rect">
            <a:avLst/>
          </a:prstGeom>
          <a:noFill/>
          <a:ln/>
        </p:spPr>
        <p:txBody>
          <a:bodyPr wrap="square" rtlCol="0" anchor="ctr"/>
          <a:lstStyle/>
          <a:p>
            <a:pPr indent="0" marL="0">
              <a:lnSpc>
                <a:spcPct val="115000"/>
              </a:lnSpc>
              <a:buNone/>
            </a:pPr>
            <a:r>
              <a:rPr lang="en-US" sz="1200" dirty="0">
                <a:solidFill>
                  <a:srgbClr val="333333"/>
                </a:solidFill>
                <a:latin typeface="Calibri" pitchFamily="34" charset="0"/>
                <a:ea typeface="Calibri" pitchFamily="34" charset="-122"/>
                <a:cs typeface="Calibri" pitchFamily="34" charset="-120"/>
              </a:rPr>
              <a:t>Every country grows month-over-month within Q4 itself, consistent with the Nov–Dec seasonal pattern seen in the trend data. Brazil and Indonesia remain the largest dollar contributors in the forecast, matching their share of YTD revenue — the forecast doesn't reshuffle which markets matter most, it extends the pattern already in the data.</a:t>
            </a:r>
            <a:endParaRPr lang="en-US" sz="1200" dirty="0"/>
          </a:p>
        </p:txBody>
      </p:sp>
      <p:sp>
        <p:nvSpPr>
          <p:cNvPr id="7" name="Text 4"/>
          <p:cNvSpPr/>
          <p:nvPr/>
        </p:nvSpPr>
        <p:spPr>
          <a:xfrm>
            <a:off x="8321040" y="1371600"/>
            <a:ext cx="3383280" cy="320040"/>
          </a:xfrm>
          <a:prstGeom prst="rect">
            <a:avLst/>
          </a:prstGeom>
          <a:noFill/>
          <a:ln/>
        </p:spPr>
        <p:txBody>
          <a:bodyPr wrap="square"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Q4 2024 Total (forecast)</a:t>
            </a:r>
            <a:endParaRPr lang="en-US" sz="1300" dirty="0"/>
          </a:p>
        </p:txBody>
      </p:sp>
      <p:sp>
        <p:nvSpPr>
          <p:cNvPr id="8" name="Text 5"/>
          <p:cNvSpPr/>
          <p:nvPr/>
        </p:nvSpPr>
        <p:spPr>
          <a:xfrm>
            <a:off x="8321040" y="1691640"/>
            <a:ext cx="3383280" cy="640080"/>
          </a:xfrm>
          <a:prstGeom prst="rect">
            <a:avLst/>
          </a:prstGeom>
          <a:noFill/>
          <a:ln/>
        </p:spPr>
        <p:txBody>
          <a:bodyPr wrap="square"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$3.62M</a:t>
            </a:r>
            <a:endParaRPr lang="en-US" sz="3400" dirty="0"/>
          </a:p>
        </p:txBody>
      </p:sp>
      <p:sp>
        <p:nvSpPr>
          <p:cNvPr id="9" name="Text 6"/>
          <p:cNvSpPr/>
          <p:nvPr/>
        </p:nvSpPr>
        <p:spPr>
          <a:xfrm>
            <a:off x="8321040" y="2286000"/>
            <a:ext cx="3383280" cy="320040"/>
          </a:xfrm>
          <a:prstGeom prst="rect">
            <a:avLst/>
          </a:prstGeom>
          <a:noFill/>
          <a:ln/>
        </p:spPr>
        <p:txBody>
          <a:bodyPr wrap="square" rtlCol="0" anchor="ctr"/>
          <a:lstStyle/>
          <a:p>
            <a:pPr indent="0" marL="0">
              <a:buNone/>
            </a:pPr>
            <a:r>
              <a:rPr lang="en-US" sz="1150" i="1" dirty="0">
                <a:solidFill>
                  <a:srgbClr val="6B7280"/>
                </a:solidFill>
                <a:latin typeface="Calibri" pitchFamily="34" charset="0"/>
                <a:ea typeface="Calibri" pitchFamily="34" charset="-122"/>
                <a:cs typeface="Calibri" pitchFamily="34" charset="-120"/>
              </a:rPr>
              <a:t>across all 6 markets</a:t>
            </a:r>
            <a:endParaRPr lang="en-US" sz="1150" dirty="0"/>
          </a:p>
        </p:txBody>
      </p:sp>
      <p:sp>
        <p:nvSpPr>
          <p:cNvPr id="10" name="Text 7"/>
          <p:cNvSpPr/>
          <p:nvPr/>
        </p:nvSpPr>
        <p:spPr>
          <a:xfrm>
            <a:off x="8321040" y="2834640"/>
            <a:ext cx="3383280" cy="320040"/>
          </a:xfrm>
          <a:prstGeom prst="rect">
            <a:avLst/>
          </a:prstGeom>
          <a:noFill/>
          <a:ln/>
        </p:spPr>
        <p:txBody>
          <a:bodyPr wrap="square"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Implied FY2024 growth vs FY2023</a:t>
            </a:r>
            <a:endParaRPr lang="en-US" sz="1300" dirty="0"/>
          </a:p>
        </p:txBody>
      </p:sp>
      <p:sp>
        <p:nvSpPr>
          <p:cNvPr id="11" name="Text 8"/>
          <p:cNvSpPr/>
          <p:nvPr/>
        </p:nvSpPr>
        <p:spPr>
          <a:xfrm>
            <a:off x="8321040" y="3154680"/>
            <a:ext cx="3383280" cy="640080"/>
          </a:xfrm>
          <a:prstGeom prst="rect">
            <a:avLst/>
          </a:prstGeom>
          <a:noFill/>
          <a:ln/>
        </p:spPr>
        <p:txBody>
          <a:bodyPr wrap="square" rtlCol="0" anchor="ctr"/>
          <a:lstStyle/>
          <a:p>
            <a:pPr indent="0" marL="0">
              <a:buNone/>
            </a:pPr>
            <a:r>
              <a:rPr lang="en-US" sz="3400" b="1" dirty="0">
                <a:solidFill>
                  <a:srgbClr val="7A9A4E"/>
                </a:solidFill>
                <a:latin typeface="Cambria" pitchFamily="34" charset="0"/>
                <a:ea typeface="Cambria" pitchFamily="34" charset="-122"/>
                <a:cs typeface="Cambria" pitchFamily="34" charset="-120"/>
              </a:rPr>
              <a:t>+26.3%</a:t>
            </a:r>
            <a:endParaRPr lang="en-US" sz="3400" dirty="0"/>
          </a:p>
        </p:txBody>
      </p:sp>
      <p:sp>
        <p:nvSpPr>
          <p:cNvPr id="12" name="Text 9"/>
          <p:cNvSpPr/>
          <p:nvPr/>
        </p:nvSpPr>
        <p:spPr>
          <a:xfrm>
            <a:off x="8321040" y="3749040"/>
            <a:ext cx="3383280" cy="548640"/>
          </a:xfrm>
          <a:prstGeom prst="rect">
            <a:avLst/>
          </a:prstGeom>
          <a:noFill/>
          <a:ln/>
        </p:spPr>
        <p:txBody>
          <a:bodyPr wrap="square" rtlCol="0" anchor="t"/>
          <a:lstStyle/>
          <a:p>
            <a:pPr indent="0" marL="0">
              <a:buNone/>
            </a:pPr>
            <a:r>
              <a:rPr lang="en-US" sz="1150" i="1" dirty="0">
                <a:solidFill>
                  <a:srgbClr val="6B7280"/>
                </a:solidFill>
                <a:latin typeface="Calibri" pitchFamily="34" charset="0"/>
                <a:ea typeface="Calibri" pitchFamily="34" charset="-122"/>
                <a:cs typeface="Calibri" pitchFamily="34" charset="-120"/>
              </a:rPr>
              <a:t>consistent with YTD trend (+25.9%) — a good sanity check</a:t>
            </a:r>
            <a:endParaRPr lang="en-US" sz="1150" dirty="0"/>
          </a:p>
        </p:txBody>
      </p:sp>
      <p:sp>
        <p:nvSpPr>
          <p:cNvPr id="13" name="Text 10"/>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Bemobi Analytics Test Task — Part B</a:t>
            </a:r>
            <a:endParaRPr lang="en-US" sz="900" dirty="0"/>
          </a:p>
        </p:txBody>
      </p:sp>
      <p:sp>
        <p:nvSpPr>
          <p:cNvPr id="14" name="Text 11"/>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515600" cy="594360"/>
          </a:xfrm>
          <a:prstGeom prst="rect">
            <a:avLst/>
          </a:prstGeom>
          <a:noFill/>
          <a:ln/>
        </p:spPr>
        <p:txBody>
          <a:bodyPr wrap="square" rtlCol="0" anchor="ctr"/>
          <a:lstStyle/>
          <a:p>
            <a:pPr indent="0" marL="0">
              <a:buNone/>
            </a:pPr>
            <a:r>
              <a:rPr lang="en-US" sz="2600" b="1" dirty="0">
                <a:solidFill>
                  <a:srgbClr val="2C5F2D"/>
                </a:solidFill>
                <a:latin typeface="Cambria" pitchFamily="34" charset="0"/>
                <a:ea typeface="Cambria" pitchFamily="34" charset="-122"/>
                <a:cs typeface="Cambria" pitchFamily="34" charset="-120"/>
              </a:rPr>
              <a:t>What Could Throw Off the Forecast</a:t>
            </a:r>
            <a:endParaRPr lang="en-US" sz="2600" dirty="0"/>
          </a:p>
        </p:txBody>
      </p:sp>
      <p:sp>
        <p:nvSpPr>
          <p:cNvPr id="3" name="Shape 1"/>
          <p:cNvSpPr/>
          <p:nvPr/>
        </p:nvSpPr>
        <p:spPr>
          <a:xfrm>
            <a:off x="548640" y="1463040"/>
            <a:ext cx="11064240" cy="841248"/>
          </a:xfrm>
          <a:prstGeom prst="roundRect">
            <a:avLst>
              <a:gd name="adj" fmla="val 6522"/>
            </a:avLst>
          </a:prstGeom>
          <a:solidFill>
            <a:srgbClr val="F7F8FB"/>
          </a:solidFill>
          <a:ln/>
        </p:spPr>
      </p:sp>
      <p:sp>
        <p:nvSpPr>
          <p:cNvPr id="4" name="Text 2"/>
          <p:cNvSpPr/>
          <p:nvPr/>
        </p:nvSpPr>
        <p:spPr>
          <a:xfrm>
            <a:off x="822960" y="1536192"/>
            <a:ext cx="3017520" cy="694944"/>
          </a:xfrm>
          <a:prstGeom prst="rect">
            <a:avLst/>
          </a:prstGeom>
          <a:noFill/>
          <a:ln/>
        </p:spPr>
        <p:txBody>
          <a:bodyPr wrap="square" rtlCol="0" anchor="t"/>
          <a:lstStyle/>
          <a:p>
            <a:pPr indent="0" marL="0">
              <a:buNone/>
            </a:pPr>
            <a:r>
              <a:rPr lang="en-US" sz="1300" b="1" dirty="0">
                <a:solidFill>
                  <a:srgbClr val="2C5F2D"/>
                </a:solidFill>
                <a:latin typeface="Calibri" pitchFamily="34" charset="0"/>
                <a:ea typeface="Calibri" pitchFamily="34" charset="-122"/>
                <a:cs typeface="Calibri" pitchFamily="34" charset="-120"/>
              </a:rPr>
              <a:t>Growth rate isn't guaranteed to hold</a:t>
            </a:r>
            <a:endParaRPr lang="en-US" sz="1300" dirty="0"/>
          </a:p>
        </p:txBody>
      </p:sp>
      <p:sp>
        <p:nvSpPr>
          <p:cNvPr id="5" name="Text 3"/>
          <p:cNvSpPr/>
          <p:nvPr/>
        </p:nvSpPr>
        <p:spPr>
          <a:xfrm>
            <a:off x="3931920" y="1536192"/>
            <a:ext cx="7406640" cy="694944"/>
          </a:xfrm>
          <a:prstGeom prst="rect">
            <a:avLst/>
          </a:prstGeom>
          <a:noFill/>
          <a:ln/>
        </p:spPr>
        <p:txBody>
          <a:bodyPr wrap="square" rtlCol="0" anchor="t"/>
          <a:lstStyle/>
          <a:p>
            <a:pPr indent="0" marL="0">
              <a:lnSpc>
                <a:spcPct val="110000"/>
              </a:lnSpc>
              <a:buNone/>
            </a:pPr>
            <a:r>
              <a:rPr lang="en-US" sz="1200" dirty="0">
                <a:solidFill>
                  <a:srgbClr val="333333"/>
                </a:solidFill>
                <a:latin typeface="Calibri" pitchFamily="34" charset="0"/>
                <a:ea typeface="Calibri" pitchFamily="34" charset="-122"/>
                <a:cs typeface="Calibri" pitchFamily="34" charset="-120"/>
              </a:rPr>
              <a:t>The forecast assumes each country's Jul–Sep growth rate continues into Q4. If growth is decelerating (or accelerating) heading into year-end, the forecast will be off in that direction.</a:t>
            </a:r>
            <a:endParaRPr lang="en-US" sz="1200" dirty="0"/>
          </a:p>
        </p:txBody>
      </p:sp>
      <p:sp>
        <p:nvSpPr>
          <p:cNvPr id="6" name="Shape 4"/>
          <p:cNvSpPr/>
          <p:nvPr/>
        </p:nvSpPr>
        <p:spPr>
          <a:xfrm>
            <a:off x="548640" y="2395728"/>
            <a:ext cx="11064240" cy="841248"/>
          </a:xfrm>
          <a:prstGeom prst="roundRect">
            <a:avLst>
              <a:gd name="adj" fmla="val 6522"/>
            </a:avLst>
          </a:prstGeom>
          <a:solidFill>
            <a:srgbClr val="F7F8FB"/>
          </a:solidFill>
          <a:ln/>
        </p:spPr>
      </p:sp>
      <p:sp>
        <p:nvSpPr>
          <p:cNvPr id="7" name="Text 5"/>
          <p:cNvSpPr/>
          <p:nvPr/>
        </p:nvSpPr>
        <p:spPr>
          <a:xfrm>
            <a:off x="822960" y="2468880"/>
            <a:ext cx="3017520" cy="694944"/>
          </a:xfrm>
          <a:prstGeom prst="rect">
            <a:avLst/>
          </a:prstGeom>
          <a:noFill/>
          <a:ln/>
        </p:spPr>
        <p:txBody>
          <a:bodyPr wrap="square" rtlCol="0" anchor="t"/>
          <a:lstStyle/>
          <a:p>
            <a:pPr indent="0" marL="0">
              <a:buNone/>
            </a:pPr>
            <a:r>
              <a:rPr lang="en-US" sz="1300" b="1" dirty="0">
                <a:solidFill>
                  <a:srgbClr val="2C5F2D"/>
                </a:solidFill>
                <a:latin typeface="Calibri" pitchFamily="34" charset="0"/>
                <a:ea typeface="Calibri" pitchFamily="34" charset="-122"/>
                <a:cs typeface="Calibri" pitchFamily="34" charset="-120"/>
              </a:rPr>
              <a:t>Seasonality assumed consistent year-over-year</a:t>
            </a:r>
            <a:endParaRPr lang="en-US" sz="1300" dirty="0"/>
          </a:p>
        </p:txBody>
      </p:sp>
      <p:sp>
        <p:nvSpPr>
          <p:cNvPr id="8" name="Text 6"/>
          <p:cNvSpPr/>
          <p:nvPr/>
        </p:nvSpPr>
        <p:spPr>
          <a:xfrm>
            <a:off x="3931920" y="2468880"/>
            <a:ext cx="7406640" cy="694944"/>
          </a:xfrm>
          <a:prstGeom prst="rect">
            <a:avLst/>
          </a:prstGeom>
          <a:noFill/>
          <a:ln/>
        </p:spPr>
        <p:txBody>
          <a:bodyPr wrap="square" rtlCol="0" anchor="t"/>
          <a:lstStyle/>
          <a:p>
            <a:pPr indent="0" marL="0">
              <a:lnSpc>
                <a:spcPct val="110000"/>
              </a:lnSpc>
              <a:buNone/>
            </a:pPr>
            <a:r>
              <a:rPr lang="en-US" sz="1200" dirty="0">
                <a:solidFill>
                  <a:srgbClr val="333333"/>
                </a:solidFill>
                <a:latin typeface="Calibri" pitchFamily="34" charset="0"/>
                <a:ea typeface="Calibri" pitchFamily="34" charset="-122"/>
                <a:cs typeface="Calibri" pitchFamily="34" charset="-120"/>
              </a:rPr>
              <a:t>The Nov–Dec spike is assumed to repeat at a similar relative size. A change in holiday promotions, competitor activity, or macroeconomic conditions could shift that.</a:t>
            </a:r>
            <a:endParaRPr lang="en-US" sz="1200" dirty="0"/>
          </a:p>
        </p:txBody>
      </p:sp>
      <p:sp>
        <p:nvSpPr>
          <p:cNvPr id="9" name="Shape 7"/>
          <p:cNvSpPr/>
          <p:nvPr/>
        </p:nvSpPr>
        <p:spPr>
          <a:xfrm>
            <a:off x="548640" y="3328416"/>
            <a:ext cx="11064240" cy="841248"/>
          </a:xfrm>
          <a:prstGeom prst="roundRect">
            <a:avLst>
              <a:gd name="adj" fmla="val 6522"/>
            </a:avLst>
          </a:prstGeom>
          <a:solidFill>
            <a:srgbClr val="F7F8FB"/>
          </a:solidFill>
          <a:ln/>
        </p:spPr>
      </p:sp>
      <p:sp>
        <p:nvSpPr>
          <p:cNvPr id="10" name="Text 8"/>
          <p:cNvSpPr/>
          <p:nvPr/>
        </p:nvSpPr>
        <p:spPr>
          <a:xfrm>
            <a:off x="822960" y="3401568"/>
            <a:ext cx="3017520" cy="694944"/>
          </a:xfrm>
          <a:prstGeom prst="rect">
            <a:avLst/>
          </a:prstGeom>
          <a:noFill/>
          <a:ln/>
        </p:spPr>
        <p:txBody>
          <a:bodyPr wrap="square" rtlCol="0" anchor="t"/>
          <a:lstStyle/>
          <a:p>
            <a:pPr indent="0" marL="0">
              <a:buNone/>
            </a:pPr>
            <a:r>
              <a:rPr lang="en-US" sz="1300" b="1" dirty="0">
                <a:solidFill>
                  <a:srgbClr val="2C5F2D"/>
                </a:solidFill>
                <a:latin typeface="Calibri" pitchFamily="34" charset="0"/>
                <a:ea typeface="Calibri" pitchFamily="34" charset="-122"/>
                <a:cs typeface="Calibri" pitchFamily="34" charset="-120"/>
              </a:rPr>
              <a:t>Nigeria is the least certain market</a:t>
            </a:r>
            <a:endParaRPr lang="en-US" sz="1300" dirty="0"/>
          </a:p>
        </p:txBody>
      </p:sp>
      <p:sp>
        <p:nvSpPr>
          <p:cNvPr id="11" name="Text 9"/>
          <p:cNvSpPr/>
          <p:nvPr/>
        </p:nvSpPr>
        <p:spPr>
          <a:xfrm>
            <a:off x="3931920" y="3401568"/>
            <a:ext cx="7406640" cy="694944"/>
          </a:xfrm>
          <a:prstGeom prst="rect">
            <a:avLst/>
          </a:prstGeom>
          <a:noFill/>
          <a:ln/>
        </p:spPr>
        <p:txBody>
          <a:bodyPr wrap="square" rtlCol="0" anchor="t"/>
          <a:lstStyle/>
          <a:p>
            <a:pPr indent="0" marL="0">
              <a:lnSpc>
                <a:spcPct val="110000"/>
              </a:lnSpc>
              <a:buNone/>
            </a:pPr>
            <a:r>
              <a:rPr lang="en-US" sz="1200" dirty="0">
                <a:solidFill>
                  <a:srgbClr val="333333"/>
                </a:solidFill>
                <a:latin typeface="Calibri" pitchFamily="34" charset="0"/>
                <a:ea typeface="Calibri" pitchFamily="34" charset="-122"/>
                <a:cs typeface="Calibri" pitchFamily="34" charset="-120"/>
              </a:rPr>
              <a:t>Its June anomaly shows more volatility than other markets — if the underlying cause recurs, actuals could diverge more than for the other 5 countries.</a:t>
            </a:r>
            <a:endParaRPr lang="en-US" sz="1200" dirty="0"/>
          </a:p>
        </p:txBody>
      </p:sp>
      <p:sp>
        <p:nvSpPr>
          <p:cNvPr id="12" name="Shape 10"/>
          <p:cNvSpPr/>
          <p:nvPr/>
        </p:nvSpPr>
        <p:spPr>
          <a:xfrm>
            <a:off x="548640" y="4261104"/>
            <a:ext cx="11064240" cy="841248"/>
          </a:xfrm>
          <a:prstGeom prst="roundRect">
            <a:avLst>
              <a:gd name="adj" fmla="val 6522"/>
            </a:avLst>
          </a:prstGeom>
          <a:solidFill>
            <a:srgbClr val="F7F8FB"/>
          </a:solidFill>
          <a:ln/>
        </p:spPr>
      </p:sp>
      <p:sp>
        <p:nvSpPr>
          <p:cNvPr id="13" name="Text 11"/>
          <p:cNvSpPr/>
          <p:nvPr/>
        </p:nvSpPr>
        <p:spPr>
          <a:xfrm>
            <a:off x="822960" y="4334256"/>
            <a:ext cx="3017520" cy="694944"/>
          </a:xfrm>
          <a:prstGeom prst="rect">
            <a:avLst/>
          </a:prstGeom>
          <a:noFill/>
          <a:ln/>
        </p:spPr>
        <p:txBody>
          <a:bodyPr wrap="square" rtlCol="0" anchor="t"/>
          <a:lstStyle/>
          <a:p>
            <a:pPr indent="0" marL="0">
              <a:buNone/>
            </a:pPr>
            <a:r>
              <a:rPr lang="en-US" sz="1300" b="1" dirty="0">
                <a:solidFill>
                  <a:srgbClr val="2C5F2D"/>
                </a:solidFill>
                <a:latin typeface="Calibri" pitchFamily="34" charset="0"/>
                <a:ea typeface="Calibri" pitchFamily="34" charset="-122"/>
                <a:cs typeface="Calibri" pitchFamily="34" charset="-120"/>
              </a:rPr>
              <a:t>Only 21 months of history</a:t>
            </a:r>
            <a:endParaRPr lang="en-US" sz="1300" dirty="0"/>
          </a:p>
        </p:txBody>
      </p:sp>
      <p:sp>
        <p:nvSpPr>
          <p:cNvPr id="14" name="Text 12"/>
          <p:cNvSpPr/>
          <p:nvPr/>
        </p:nvSpPr>
        <p:spPr>
          <a:xfrm>
            <a:off x="3931920" y="4334256"/>
            <a:ext cx="7406640" cy="694944"/>
          </a:xfrm>
          <a:prstGeom prst="rect">
            <a:avLst/>
          </a:prstGeom>
          <a:noFill/>
          <a:ln/>
        </p:spPr>
        <p:txBody>
          <a:bodyPr wrap="square" rtlCol="0" anchor="t"/>
          <a:lstStyle/>
          <a:p>
            <a:pPr indent="0" marL="0">
              <a:lnSpc>
                <a:spcPct val="110000"/>
              </a:lnSpc>
              <a:buNone/>
            </a:pPr>
            <a:r>
              <a:rPr lang="en-US" sz="1200" dirty="0">
                <a:solidFill>
                  <a:srgbClr val="333333"/>
                </a:solidFill>
                <a:latin typeface="Calibri" pitchFamily="34" charset="0"/>
                <a:ea typeface="Calibri" pitchFamily="34" charset="-122"/>
                <a:cs typeface="Calibri" pitchFamily="34" charset="-120"/>
              </a:rPr>
              <a:t>This is under 2 full years — not enough to separate a real seasonal pattern from a one-time coincidence with full confidence.</a:t>
            </a:r>
            <a:endParaRPr lang="en-US" sz="1200" dirty="0"/>
          </a:p>
        </p:txBody>
      </p:sp>
      <p:sp>
        <p:nvSpPr>
          <p:cNvPr id="15" name="Shape 13"/>
          <p:cNvSpPr/>
          <p:nvPr/>
        </p:nvSpPr>
        <p:spPr>
          <a:xfrm>
            <a:off x="548640" y="5193792"/>
            <a:ext cx="11064240" cy="841248"/>
          </a:xfrm>
          <a:prstGeom prst="roundRect">
            <a:avLst>
              <a:gd name="adj" fmla="val 6522"/>
            </a:avLst>
          </a:prstGeom>
          <a:solidFill>
            <a:srgbClr val="F7F8FB"/>
          </a:solidFill>
          <a:ln/>
        </p:spPr>
      </p:sp>
      <p:sp>
        <p:nvSpPr>
          <p:cNvPr id="16" name="Text 14"/>
          <p:cNvSpPr/>
          <p:nvPr/>
        </p:nvSpPr>
        <p:spPr>
          <a:xfrm>
            <a:off x="822960" y="5266944"/>
            <a:ext cx="3017520" cy="694944"/>
          </a:xfrm>
          <a:prstGeom prst="rect">
            <a:avLst/>
          </a:prstGeom>
          <a:noFill/>
          <a:ln/>
        </p:spPr>
        <p:txBody>
          <a:bodyPr wrap="square" rtlCol="0" anchor="t"/>
          <a:lstStyle/>
          <a:p>
            <a:pPr indent="0" marL="0">
              <a:buNone/>
            </a:pPr>
            <a:r>
              <a:rPr lang="en-US" sz="1300" b="1" dirty="0">
                <a:solidFill>
                  <a:srgbClr val="2C5F2D"/>
                </a:solidFill>
                <a:latin typeface="Calibri" pitchFamily="34" charset="0"/>
                <a:ea typeface="Calibri" pitchFamily="34" charset="-122"/>
                <a:cs typeface="Calibri" pitchFamily="34" charset="-120"/>
              </a:rPr>
              <a:t>No external factors modeled</a:t>
            </a:r>
            <a:endParaRPr lang="en-US" sz="1300" dirty="0"/>
          </a:p>
        </p:txBody>
      </p:sp>
      <p:sp>
        <p:nvSpPr>
          <p:cNvPr id="17" name="Text 15"/>
          <p:cNvSpPr/>
          <p:nvPr/>
        </p:nvSpPr>
        <p:spPr>
          <a:xfrm>
            <a:off x="3931920" y="5266944"/>
            <a:ext cx="7406640" cy="694944"/>
          </a:xfrm>
          <a:prstGeom prst="rect">
            <a:avLst/>
          </a:prstGeom>
          <a:noFill/>
          <a:ln/>
        </p:spPr>
        <p:txBody>
          <a:bodyPr wrap="square" rtlCol="0" anchor="t"/>
          <a:lstStyle/>
          <a:p>
            <a:pPr indent="0" marL="0">
              <a:lnSpc>
                <a:spcPct val="110000"/>
              </a:lnSpc>
              <a:buNone/>
            </a:pPr>
            <a:r>
              <a:rPr lang="en-US" sz="1200" dirty="0">
                <a:solidFill>
                  <a:srgbClr val="333333"/>
                </a:solidFill>
                <a:latin typeface="Calibri" pitchFamily="34" charset="0"/>
                <a:ea typeface="Calibri" pitchFamily="34" charset="-122"/>
                <a:cs typeface="Calibri" pitchFamily="34" charset="-120"/>
              </a:rPr>
              <a:t>Currency movements, local market competition, pricing changes, or macro conditions in each country aren't in this model at all.</a:t>
            </a:r>
            <a:endParaRPr lang="en-US" sz="1200" dirty="0"/>
          </a:p>
        </p:txBody>
      </p:sp>
      <p:sp>
        <p:nvSpPr>
          <p:cNvPr id="18" name="Text 16"/>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Bemobi Analytics Test Task — Part B</a:t>
            </a:r>
            <a:endParaRPr lang="en-US" sz="900" dirty="0"/>
          </a:p>
        </p:txBody>
      </p:sp>
      <p:sp>
        <p:nvSpPr>
          <p:cNvPr id="19" name="Text 17"/>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C5F2D"/>
        </a:solidFill>
      </p:bgPr>
    </p:bg>
    <p:spTree>
      <p:nvGrpSpPr>
        <p:cNvPr id="1" name=""/>
        <p:cNvGrpSpPr/>
        <p:nvPr/>
      </p:nvGrpSpPr>
      <p:grpSpPr>
        <a:xfrm>
          <a:off x="0" y="0"/>
          <a:ext cx="0" cy="0"/>
          <a:chOff x="0" y="0"/>
          <a:chExt cx="0" cy="0"/>
        </a:xfrm>
      </p:grpSpPr>
      <p:sp>
        <p:nvSpPr>
          <p:cNvPr id="2" name="Text 0"/>
          <p:cNvSpPr/>
          <p:nvPr/>
        </p:nvSpPr>
        <p:spPr>
          <a:xfrm>
            <a:off x="822960" y="502920"/>
            <a:ext cx="9144000" cy="59436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Summary &amp; Reasoning</a:t>
            </a:r>
            <a:endParaRPr lang="en-US" sz="3000" dirty="0"/>
          </a:p>
        </p:txBody>
      </p:sp>
      <p:sp>
        <p:nvSpPr>
          <p:cNvPr id="3" name="Shape 1"/>
          <p:cNvSpPr/>
          <p:nvPr/>
        </p:nvSpPr>
        <p:spPr>
          <a:xfrm>
            <a:off x="822960" y="1417320"/>
            <a:ext cx="10515600" cy="3566160"/>
          </a:xfrm>
          <a:prstGeom prst="roundRect">
            <a:avLst>
              <a:gd name="adj" fmla="val 2051"/>
            </a:avLst>
          </a:prstGeom>
          <a:solidFill>
            <a:srgbClr val="3D7A3E"/>
          </a:solidFill>
          <a:ln/>
        </p:spPr>
      </p:sp>
      <p:sp>
        <p:nvSpPr>
          <p:cNvPr id="4" name="Text 2"/>
          <p:cNvSpPr/>
          <p:nvPr/>
        </p:nvSpPr>
        <p:spPr>
          <a:xfrm>
            <a:off x="1188720" y="1645920"/>
            <a:ext cx="9784080" cy="3108960"/>
          </a:xfrm>
          <a:prstGeom prst="rect">
            <a:avLst/>
          </a:prstGeom>
          <a:noFill/>
          <a:ln/>
        </p:spPr>
        <p:txBody>
          <a:bodyPr wrap="square" rtlCol="0" anchor="t"/>
          <a:lstStyle/>
          <a:p>
            <a:pPr indent="0" marL="0">
              <a:lnSpc>
                <a:spcPct val="130000"/>
              </a:lnSpc>
              <a:buNone/>
            </a:pPr>
            <a:r>
              <a:rPr lang="en-US" sz="1500" dirty="0">
                <a:solidFill>
                  <a:srgbClr val="FFFFFF"/>
                </a:solidFill>
                <a:latin typeface="Calibri" pitchFamily="34" charset="0"/>
                <a:ea typeface="Calibri" pitchFamily="34" charset="-122"/>
                <a:cs typeface="Calibri" pitchFamily="34" charset="-120"/>
              </a:rPr>
              <a:t>All 6 markets grew double digits YTD (18–35%), broad-based rather than concentrated in one country, so I forecast Q4 2024 by applying each country's own recent growth rate (Jul–Sep average) to the same month last year. That approach was chosen specifically because it captures the clear, repeating Nov–Dec seasonal spike without needing a separate seasonal model, and it stays simple relative to only 21 months of history. I treated Nigeria's June dip as a one-off rather than a trend, using a 3-month growth window so it wouldn't distort the forecast. The biggest risks to this forecast are that recent growth doesn't hold through year-end, and that seasonality strength shifts year-over-year — I'd want to revisit this once October actuals land, and treat the Q4 numbers as a planning input rather than a firm commitment.</a:t>
            </a:r>
            <a:endParaRPr lang="en-US" sz="1500" dirty="0"/>
          </a:p>
        </p:txBody>
      </p:sp>
      <p:sp>
        <p:nvSpPr>
          <p:cNvPr id="5" name="Text 3"/>
          <p:cNvSpPr/>
          <p:nvPr/>
        </p:nvSpPr>
        <p:spPr>
          <a:xfrm>
            <a:off x="822960" y="5166360"/>
            <a:ext cx="10515600" cy="548640"/>
          </a:xfrm>
          <a:prstGeom prst="rect">
            <a:avLst/>
          </a:prstGeom>
          <a:noFill/>
          <a:ln/>
        </p:spPr>
        <p:txBody>
          <a:bodyPr wrap="square" rtlCol="0" anchor="ctr"/>
          <a:lstStyle/>
          <a:p>
            <a:pPr indent="0" marL="0">
              <a:buNone/>
            </a:pPr>
            <a:r>
              <a:rPr lang="en-US" sz="1100" i="1" dirty="0">
                <a:solidFill>
                  <a:srgbClr val="DCEAC7"/>
                </a:solidFill>
                <a:latin typeface="Calibri" pitchFamily="34" charset="0"/>
                <a:ea typeface="Calibri" pitchFamily="34" charset="-122"/>
                <a:cs typeface="Calibri" pitchFamily="34" charset="-120"/>
              </a:rPr>
              <a:t>AI tool use: I used Claude to check whether my Excel formulas worked correctly and fit the task. The analysis, forecast method, and reasoning are my own.</a:t>
            </a:r>
            <a:endParaRPr lang="en-US" sz="1100" dirty="0"/>
          </a:p>
        </p:txBody>
      </p:sp>
      <p:sp>
        <p:nvSpPr>
          <p:cNvPr id="6" name="Text 4"/>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A9C98A"/>
                </a:solidFill>
                <a:latin typeface="Calibri" pitchFamily="34" charset="0"/>
                <a:ea typeface="Calibri" pitchFamily="34" charset="-122"/>
                <a:cs typeface="Calibri" pitchFamily="34" charset="-120"/>
              </a:rPr>
              <a:t>Bemobi Analytics Test Task — Part B</a:t>
            </a:r>
            <a:endParaRPr lang="en-US" sz="900" dirty="0"/>
          </a:p>
        </p:txBody>
      </p:sp>
      <p:sp>
        <p:nvSpPr>
          <p:cNvPr id="7" name="Text 5"/>
          <p:cNvSpPr/>
          <p:nvPr/>
        </p:nvSpPr>
        <p:spPr>
          <a:xfrm>
            <a:off x="11274552" y="6446520"/>
            <a:ext cx="457200" cy="274320"/>
          </a:xfrm>
          <a:prstGeom prst="rect">
            <a:avLst/>
          </a:prstGeom>
          <a:noFill/>
          <a:ln/>
        </p:spPr>
        <p:txBody>
          <a:bodyPr wrap="square" rtlCol="0" anchor="ctr"/>
          <a:lstStyle/>
          <a:p>
            <a:pPr algn="r" indent="0" marL="0">
              <a:buNone/>
            </a:pPr>
            <a:r>
              <a:rPr lang="en-US" sz="900" dirty="0">
                <a:solidFill>
                  <a:srgbClr val="A9C98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2026-07-15T18:22:17Z</dcterms:created>
  <dcterms:modified xsi:type="dcterms:W3CDTF">2026-07-15T18:22:17Z</dcterms:modified>
</cp:coreProperties>
</file>