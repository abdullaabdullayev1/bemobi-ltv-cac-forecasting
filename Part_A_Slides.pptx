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5F2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C5F2D"/>
                </a:solidFill>
                <a:latin typeface="Calibri"/>
              </a:rPr>
              <a:t>Monthly Revenue per User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Organic/Referral</c:v>
                </c:pt>
              </c:strCache>
            </c:strRef>
          </c:tx>
          <c:spPr>
            <a:solidFill>
              <a:srgbClr val="7A9A4E"/>
            </a:solidFill>
            <a:ln w="31750" cap="flat">
              <a:solidFill>
                <a:srgbClr val="7A9A4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A9A4E"/>
              </a:solidFill>
              <a:ln w="9525" cap="flat">
                <a:solidFill>
                  <a:srgbClr val="7A9A4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Month 1</c:v>
                  </c:pt>
                  <c:pt idx="1">
                    <c:v>Month 2</c:v>
                  </c:pt>
                  <c:pt idx="2">
                    <c:v>Month 3</c:v>
                  </c:pt>
                  <c:pt idx="3">
                    <c:v>Month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6.34</c:v>
                </c:pt>
                <c:pt idx="1">
                  <c:v>6</c:v>
                </c:pt>
                <c:pt idx="2">
                  <c:v>5.65</c:v>
                </c:pt>
                <c:pt idx="3">
                  <c:v>5.39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Paid Search</c:v>
                </c:pt>
              </c:strCache>
            </c:strRef>
          </c:tx>
          <c:spPr>
            <a:solidFill>
              <a:srgbClr val="2C5F2D"/>
            </a:solidFill>
            <a:ln w="31750" cap="flat">
              <a:solidFill>
                <a:srgbClr val="2C5F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5F2D"/>
              </a:solidFill>
              <a:ln w="9525" cap="flat">
                <a:solidFill>
                  <a:srgbClr val="2C5F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Month 1</c:v>
                  </c:pt>
                  <c:pt idx="1">
                    <c:v>Month 2</c:v>
                  </c:pt>
                  <c:pt idx="2">
                    <c:v>Month 3</c:v>
                  </c:pt>
                  <c:pt idx="3">
                    <c:v>Month 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6.55</c:v>
                </c:pt>
                <c:pt idx="1">
                  <c:v>5.87</c:v>
                </c:pt>
                <c:pt idx="2">
                  <c:v>5.26</c:v>
                </c:pt>
                <c:pt idx="3">
                  <c:v>4.99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Paid Social</c:v>
                </c:pt>
              </c:strCache>
            </c:strRef>
          </c:tx>
          <c:spPr>
            <a:solidFill>
              <a:srgbClr val="E8635A"/>
            </a:solidFill>
            <a:ln w="31750" cap="flat">
              <a:solidFill>
                <a:srgbClr val="E863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635A"/>
              </a:solidFill>
              <a:ln w="9525" cap="flat">
                <a:solidFill>
                  <a:srgbClr val="E863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Month 1</c:v>
                  </c:pt>
                  <c:pt idx="1">
                    <c:v>Month 2</c:v>
                  </c:pt>
                  <c:pt idx="2">
                    <c:v>Month 3</c:v>
                  </c:pt>
                  <c:pt idx="3">
                    <c:v>Month 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6.46</c:v>
                </c:pt>
                <c:pt idx="1">
                  <c:v>5.1</c:v>
                </c:pt>
                <c:pt idx="2">
                  <c:v>4.28</c:v>
                </c:pt>
                <c:pt idx="3">
                  <c:v>3.79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280"/>
                    </a:solidFill>
                    <a:latin typeface="Arial"/>
                  </a:rPr>
                  <a:t>Avg $ / user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Organic/Referral</c:v>
                </c:pt>
              </c:strCache>
            </c:strRef>
          </c:tx>
          <c:spPr>
            <a:solidFill>
              <a:srgbClr val="7A9A4E"/>
            </a:solidFill>
            <a:ln w="31750" cap="flat">
              <a:solidFill>
                <a:srgbClr val="7A9A4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A9A4E"/>
              </a:solidFill>
              <a:ln w="9525" cap="flat">
                <a:solidFill>
                  <a:srgbClr val="7A9A4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Month 1</c:v>
                  </c:pt>
                  <c:pt idx="1">
                    <c:v>Month 2</c:v>
                  </c:pt>
                  <c:pt idx="2">
                    <c:v>Month 3</c:v>
                  </c:pt>
                  <c:pt idx="3">
                    <c:v>Month 4</c:v>
                  </c:pt>
                  <c:pt idx="4">
                    <c:v>Month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93</c:v>
                </c:pt>
                <c:pt idx="3">
                  <c:v>87.9</c:v>
                </c:pt>
                <c:pt idx="4">
                  <c:v>82.7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Paid Search</c:v>
                </c:pt>
              </c:strCache>
            </c:strRef>
          </c:tx>
          <c:spPr>
            <a:solidFill>
              <a:srgbClr val="2C5F2D"/>
            </a:solidFill>
            <a:ln w="31750" cap="flat">
              <a:solidFill>
                <a:srgbClr val="2C5F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5F2D"/>
              </a:solidFill>
              <a:ln w="9525" cap="flat">
                <a:solidFill>
                  <a:srgbClr val="2C5F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Month 1</c:v>
                  </c:pt>
                  <c:pt idx="1">
                    <c:v>Month 2</c:v>
                  </c:pt>
                  <c:pt idx="2">
                    <c:v>Month 3</c:v>
                  </c:pt>
                  <c:pt idx="3">
                    <c:v>Month 4</c:v>
                  </c:pt>
                  <c:pt idx="4">
                    <c:v>Month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88.7</c:v>
                </c:pt>
                <c:pt idx="3">
                  <c:v>80.4</c:v>
                </c:pt>
                <c:pt idx="4">
                  <c:v>75.4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Paid Social</c:v>
                </c:pt>
              </c:strCache>
            </c:strRef>
          </c:tx>
          <c:spPr>
            <a:solidFill>
              <a:srgbClr val="E8635A"/>
            </a:solidFill>
            <a:ln w="31750" cap="flat">
              <a:solidFill>
                <a:srgbClr val="E863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635A"/>
              </a:solidFill>
              <a:ln w="9525" cap="flat">
                <a:solidFill>
                  <a:srgbClr val="E863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Month 1</c:v>
                  </c:pt>
                  <c:pt idx="1">
                    <c:v>Month 2</c:v>
                  </c:pt>
                  <c:pt idx="2">
                    <c:v>Month 3</c:v>
                  </c:pt>
                  <c:pt idx="3">
                    <c:v>Month 4</c:v>
                  </c:pt>
                  <c:pt idx="4">
                    <c:v>Month 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78.5</c:v>
                </c:pt>
                <c:pt idx="3">
                  <c:v>65.9</c:v>
                </c:pt>
                <c:pt idx="4">
                  <c:v>57.9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280"/>
                    </a:solidFill>
                    <a:latin typeface="Arial"/>
                  </a:rPr>
                  <a:t>% still billing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5F2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C5F2D"/>
                </a:solidFill>
                <a:latin typeface="Calibri"/>
              </a:rPr>
              <a:t>Paid Channels: CPA vs LTV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CPA ($)</c:v>
                </c:pt>
              </c:strCache>
            </c:strRef>
          </c:tx>
          <c:spPr>
            <a:solidFill>
              <a:srgbClr val="E8635A"/>
            </a:solidFill>
            <a:effectLst/>
          </c:spPr>
          <c:invertIfNegative val="0"/>
          <c:dLbls>
            <c:numFmt formatCode="&quot;$&quot;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Paid Search</c:v>
                  </c:pt>
                  <c:pt idx="1">
                    <c:v>Paid Social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13.76</c:v>
                </c:pt>
                <c:pt idx="1">
                  <c:v>8.2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4-Month LTV ($)</c:v>
                </c:pt>
              </c:strCache>
            </c:strRef>
          </c:tx>
          <c:spPr>
            <a:solidFill>
              <a:srgbClr val="7A9A4E"/>
            </a:solidFill>
            <a:effectLst/>
          </c:spPr>
          <c:invertIfNegative val="0"/>
          <c:dLbls>
            <c:numFmt formatCode="&quot;$&quot;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Paid Search</c:v>
                  </c:pt>
                  <c:pt idx="1">
                    <c:v>Paid Social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22.66</c:v>
                </c:pt>
                <c:pt idx="1">
                  <c:v>19.63</c:v>
                </c:pt>
              </c:numCache>
            </c:numRef>
          </c:val>
        </c:ser>
        <c:dLbls>
          <c:numFmt formatCode="&quot;$&quot;0.0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280"/>
                    </a:solidFill>
                    <a:latin typeface="Arial"/>
                  </a:rPr>
                  <a:t>$ per user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4-Month LTV (actual)</c:v>
                </c:pt>
              </c:strCache>
            </c:strRef>
          </c:tx>
          <c:spPr>
            <a:solidFill>
              <a:srgbClr val="9FB6E8"/>
            </a:solidFill>
            <a:effectLst/>
          </c:spPr>
          <c:invertIfNegative val="0"/>
          <c:dLbls>
            <c:numFmt formatCode="&quot;$&quot;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Organic/Referral</c:v>
                  </c:pt>
                  <c:pt idx="1">
                    <c:v>Paid Search</c:v>
                  </c:pt>
                  <c:pt idx="2">
                    <c:v>Paid Social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23.39</c:v>
                </c:pt>
                <c:pt idx="1">
                  <c:v>22.66</c:v>
                </c:pt>
                <c:pt idx="2">
                  <c:v>19.63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12-Month LTV (projected)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&quot;$&quot;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Organic/Referral</c:v>
                  </c:pt>
                  <c:pt idx="1">
                    <c:v>Paid Search</c:v>
                  </c:pt>
                  <c:pt idx="2">
                    <c:v>Paid Social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57.98</c:v>
                </c:pt>
                <c:pt idx="1">
                  <c:v>50.51</c:v>
                </c:pt>
                <c:pt idx="2">
                  <c:v>36.24</c:v>
                </c:pt>
              </c:numCache>
            </c:numRef>
          </c:val>
        </c:ser>
        <c:dLbls>
          <c:numFmt formatCode="&quot;$&quot;0.0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280"/>
                    </a:solidFill>
                    <a:latin typeface="Arial"/>
                  </a:rPr>
                  <a:t>$ per user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LTV, Cohort &amp; CPA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Acquisition Channel Efficiency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E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signups  ·  36,044 billing records  ·  3 acquisition channels  ·  Jan–Aug 2024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7607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 Abdullayev    |    14/07/2026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1005840" cy="54864"/>
          </a:xfrm>
          <a:prstGeom prst="rect">
            <a:avLst/>
          </a:prstGeom>
          <a:solidFill>
            <a:srgbClr val="E8635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8F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27048"/>
            <a:ext cx="2194560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2.39x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2350008"/>
            <a:ext cx="2194560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paid-channel LTV:CAC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62981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14173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8FB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527048"/>
            <a:ext cx="2194560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E86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42.1%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66160" y="2350008"/>
            <a:ext cx="2194560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4-month churn rate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262981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 — highest of the 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8FB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527048"/>
            <a:ext cx="2194560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7A9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15.4x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55080" y="2350008"/>
            <a:ext cx="2194560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LTV:CAC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262981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scalable lever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915400" y="1417320"/>
            <a:ext cx="2724912" cy="1554480"/>
          </a:xfrm>
          <a:prstGeom prst="roundRect">
            <a:avLst>
              <a:gd name="adj" fmla="val 4706"/>
            </a:avLst>
          </a:prstGeom>
          <a:solidFill>
            <a:srgbClr val="F7F8F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0" y="1527048"/>
            <a:ext cx="2267712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1.65x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44000" y="2350008"/>
            <a:ext cx="2267712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 LTV:CAC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0" y="2629814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paid ratio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337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says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831336"/>
            <a:ext cx="100584" cy="100584"/>
          </a:xfrm>
          <a:prstGeom prst="ellipse">
            <a:avLst/>
          </a:prstGeom>
          <a:solidFill>
            <a:srgbClr val="E8635A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6576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channels acquire users at similar initial value ($6.3–6.6 in month 1) — the gap that opens up over time is a retention story, not an acquisition-quality story.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672584"/>
            <a:ext cx="100584" cy="100584"/>
          </a:xfrm>
          <a:prstGeom prst="ellipse">
            <a:avLst/>
          </a:prstGeom>
          <a:solidFill>
            <a:srgbClr val="E8635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498848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 is the more budget-efficient paid channel today, but its high early churn is a real risk to that efficiency holding up.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5513832"/>
            <a:ext cx="100584" cy="100584"/>
          </a:xfrm>
          <a:prstGeom prst="ellipse">
            <a:avLst/>
          </a:prstGeom>
          <a:solidFill>
            <a:srgbClr val="E8635A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340096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the view to a 12-month projection (built from each channel's own decay trend) doesn't reverse this picture — it reinforces it.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Bemobi Analytics Test Task — Part 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&amp; Data Validation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47088"/>
            <a:ext cx="91440" cy="91440"/>
          </a:xfrm>
          <a:prstGeom prst="ellipse">
            <a:avLst/>
          </a:prstGeom>
          <a:solidFill>
            <a:srgbClr val="7A9A4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099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window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4-month cumulative revenue per user, from signup month (month 0) through month 3.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990088"/>
            <a:ext cx="91440" cy="91440"/>
          </a:xfrm>
          <a:prstGeom prst="ellipse">
            <a:avLst/>
          </a:prstGeom>
          <a:solidFill>
            <a:srgbClr val="7A9A4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529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users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$0 for months after they leave — handled by averaging over ALL signups, not just users with data every month.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133088"/>
            <a:ext cx="91440" cy="91440"/>
          </a:xfrm>
          <a:prstGeom prst="ellipse">
            <a:avLst/>
          </a:prstGeom>
          <a:solidFill>
            <a:srgbClr val="7A9A4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959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2519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for channel-level aggregation; Excel workbook with live formulas for the full calculation trail.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371600"/>
            <a:ext cx="5394960" cy="4892040"/>
          </a:xfrm>
          <a:prstGeom prst="roundRect">
            <a:avLst>
              <a:gd name="adj" fmla="val 1495"/>
            </a:avLst>
          </a:prstGeom>
          <a:solidFill>
            <a:srgbClr val="F7F8FB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performed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20574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9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03720" y="205740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sequences confirmed sequential from month 0 with no gaps, across all 6,000 users.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3136392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9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03720" y="3136392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confirmed terminal in every case (2,744 churned users, 0 revenue rows found after churn).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4215384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9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03720" y="4215384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 ($0 that month) confirmed non-terminal — 683 of 764 refunded users kept billing afterward.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5294376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9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03720" y="5294376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4-month LTV window confirmed complete for every cohort, including Aug-24 signups (data runs through Dec-24).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Bemobi Analytics Test Task — Part 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4-Month LTV by Acquisition Channel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cumulative revenue per signed-up user, months 1–4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66751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406640" y="1188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4-Month LTV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406640" y="1508760"/>
            <a:ext cx="4206240" cy="932688"/>
          </a:xfrm>
          <a:prstGeom prst="roundRect">
            <a:avLst>
              <a:gd name="adj" fmla="val 7843"/>
            </a:avLst>
          </a:prstGeom>
          <a:solidFill>
            <a:srgbClr val="F7F8FB"/>
          </a:solidFill>
          <a:ln/>
        </p:spPr>
      </p:sp>
      <p:sp>
        <p:nvSpPr>
          <p:cNvPr id="7" name="Text 4"/>
          <p:cNvSpPr/>
          <p:nvPr/>
        </p:nvSpPr>
        <p:spPr>
          <a:xfrm>
            <a:off x="7635240" y="1600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Organic/Referral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35240" y="1874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9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$23.39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7406640" y="2606040"/>
            <a:ext cx="4206240" cy="932688"/>
          </a:xfrm>
          <a:prstGeom prst="roundRect">
            <a:avLst>
              <a:gd name="adj" fmla="val 7843"/>
            </a:avLst>
          </a:prstGeom>
          <a:solidFill>
            <a:srgbClr val="F7F8FB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2697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35240" y="2971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$22.66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7406640" y="3703320"/>
            <a:ext cx="4206240" cy="932688"/>
          </a:xfrm>
          <a:prstGeom prst="roundRect">
            <a:avLst>
              <a:gd name="adj" fmla="val 7843"/>
            </a:avLst>
          </a:prstGeom>
          <a:solidFill>
            <a:srgbClr val="F7F8FB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635240" y="4069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6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$19.63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406640" y="48463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month-by-month build-up (revenue, user counts, formulas) is in the accompanying workbook.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5715000"/>
            <a:ext cx="11155680" cy="640080"/>
          </a:xfrm>
          <a:prstGeom prst="roundRect">
            <a:avLst>
              <a:gd name="adj" fmla="val 8571"/>
            </a:avLst>
          </a:prstGeom>
          <a:solidFill>
            <a:srgbClr val="F7F8FB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57607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channels start at nearly the same value in month 1 ($6.3–6.6) — the total LTV gap comes almost entirely from how fast each channel decays afterward, not from acquisition quality. That decay rate is the real signal here.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Bemobi Analytics Test Task — Part 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by Channel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signups still billing, months 1–5 (fully matured for every cohort, incl. Aug-24)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64008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040880" y="12344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4-month churn rate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040880" y="1554480"/>
            <a:ext cx="4663440" cy="777240"/>
          </a:xfrm>
          <a:prstGeom prst="roundRect">
            <a:avLst>
              <a:gd name="adj" fmla="val 9412"/>
            </a:avLst>
          </a:prstGeom>
          <a:solidFill>
            <a:srgbClr val="F7F8FB"/>
          </a:solidFill>
          <a:ln/>
        </p:spPr>
      </p:sp>
      <p:sp>
        <p:nvSpPr>
          <p:cNvPr id="7" name="Text 4"/>
          <p:cNvSpPr/>
          <p:nvPr/>
        </p:nvSpPr>
        <p:spPr>
          <a:xfrm>
            <a:off x="7269480" y="17190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9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17.3% 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Organic/Referral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040880" y="2487168"/>
            <a:ext cx="4663440" cy="777240"/>
          </a:xfrm>
          <a:prstGeom prst="roundRect">
            <a:avLst>
              <a:gd name="adj" fmla="val 9412"/>
            </a:avLst>
          </a:prstGeom>
          <a:solidFill>
            <a:srgbClr val="F7F8FB"/>
          </a:solidFill>
          <a:ln/>
        </p:spPr>
      </p:sp>
      <p:sp>
        <p:nvSpPr>
          <p:cNvPr id="9" name="Text 6"/>
          <p:cNvSpPr/>
          <p:nvPr/>
        </p:nvSpPr>
        <p:spPr>
          <a:xfrm>
            <a:off x="7269480" y="26517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24.6% 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040880" y="3419856"/>
            <a:ext cx="4663440" cy="777240"/>
          </a:xfrm>
          <a:prstGeom prst="roundRect">
            <a:avLst>
              <a:gd name="adj" fmla="val 9412"/>
            </a:avLst>
          </a:prstGeom>
          <a:solidFill>
            <a:srgbClr val="F7F8FB"/>
          </a:solidFill>
          <a:ln/>
        </p:spPr>
      </p:sp>
      <p:sp>
        <p:nvSpPr>
          <p:cNvPr id="11" name="Text 8"/>
          <p:cNvSpPr/>
          <p:nvPr/>
        </p:nvSpPr>
        <p:spPr>
          <a:xfrm>
            <a:off x="7269480" y="358444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42.1% 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040880" y="4443984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Month-1–2 revenue is similar across channels; the LTV gap is really a retention story. Paid Social users leave at roughly 2.4x the rate of Organic users by month 4.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Bemobi Analytics Test Task — Part 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CPA and LTV:CAC by Channel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= total spend ÷ signups. LTV:CAC = 4-month LTV ÷ CPA. Monthly CPA is stable Jan–Aug (no seasonality flagged).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63093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257800"/>
            <a:ext cx="6309360" cy="1051560"/>
          </a:xfrm>
          <a:prstGeom prst="roundRect">
            <a:avLst>
              <a:gd name="adj" fmla="val 5217"/>
            </a:avLst>
          </a:prstGeom>
          <a:solidFill>
            <a:srgbClr val="F7F8FB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5303520"/>
            <a:ext cx="5852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 flip comes from the CPA side, not the LTV side: Paid Search costs 68% more to acquire than Paid Social, but only delivers 15% more revenue — the cost gap outweighs the value gap.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040880" y="12344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: CAC (4-month)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040880" y="155448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F7F8FB"/>
          </a:solidFill>
          <a:ln/>
        </p:spPr>
      </p:sp>
      <p:sp>
        <p:nvSpPr>
          <p:cNvPr id="9" name="Text 6"/>
          <p:cNvSpPr/>
          <p:nvPr/>
        </p:nvSpPr>
        <p:spPr>
          <a:xfrm>
            <a:off x="7269480" y="16459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9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15.4x 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Organic/Referral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269480" y="21214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but not a scalable budget lever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040880" y="2724912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F7F8FB"/>
          </a:solidFill>
          <a:ln/>
        </p:spPr>
      </p:sp>
      <p:sp>
        <p:nvSpPr>
          <p:cNvPr id="12" name="Text 9"/>
          <p:cNvSpPr/>
          <p:nvPr/>
        </p:nvSpPr>
        <p:spPr>
          <a:xfrm>
            <a:off x="7269480" y="28163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2.39x 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269480" y="3291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ratio of the paid channels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040880" y="3895344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F7F8FB"/>
          </a:solidFill>
          <a:ln/>
        </p:spPr>
      </p:sp>
      <p:sp>
        <p:nvSpPr>
          <p:cNvPr id="15" name="Text 12"/>
          <p:cNvSpPr/>
          <p:nvPr/>
        </p:nvSpPr>
        <p:spPr>
          <a:xfrm>
            <a:off x="7269480" y="39867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1.65x 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269480" y="44622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relative to the value it returns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Bemobi Analytics Test Task — Part 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Extending the View: 12-Month Projected LTV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using each channel's own month-over-month decay rate observed in months 1–5 (the fully-matured window)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508760"/>
          <a:ext cx="67665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315200" y="12801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LTV:CAC (12mo)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0" y="1600200"/>
            <a:ext cx="4389120" cy="713232"/>
          </a:xfrm>
          <a:prstGeom prst="roundRect">
            <a:avLst>
              <a:gd name="adj" fmla="val 10256"/>
            </a:avLst>
          </a:prstGeom>
          <a:solidFill>
            <a:srgbClr val="F7F8FB"/>
          </a:solidFill>
          <a:ln/>
        </p:spPr>
      </p:sp>
      <p:sp>
        <p:nvSpPr>
          <p:cNvPr id="7" name="Text 4"/>
          <p:cNvSpPr/>
          <p:nvPr/>
        </p:nvSpPr>
        <p:spPr>
          <a:xfrm>
            <a:off x="7543800" y="175564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9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38.2x  </a:t>
            </a:r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Organic/Referral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315200" y="2468880"/>
            <a:ext cx="4389120" cy="713232"/>
          </a:xfrm>
          <a:prstGeom prst="roundRect">
            <a:avLst>
              <a:gd name="adj" fmla="val 10256"/>
            </a:avLst>
          </a:prstGeom>
          <a:solidFill>
            <a:srgbClr val="F7F8FB"/>
          </a:solidFill>
          <a:ln/>
        </p:spPr>
      </p:sp>
      <p:sp>
        <p:nvSpPr>
          <p:cNvPr id="9" name="Text 6"/>
          <p:cNvSpPr/>
          <p:nvPr/>
        </p:nvSpPr>
        <p:spPr>
          <a:xfrm>
            <a:off x="7543800" y="26243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4.42x  </a:t>
            </a:r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0" y="3337560"/>
            <a:ext cx="4389120" cy="713232"/>
          </a:xfrm>
          <a:prstGeom prst="roundRect">
            <a:avLst>
              <a:gd name="adj" fmla="val 10256"/>
            </a:avLst>
          </a:prstGeom>
          <a:solidFill>
            <a:srgbClr val="F7F8FB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34930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3.67x  </a:t>
            </a:r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315200" y="429768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ordering doesn't reverse over a longer horizon — Paid Social's edge over Paid Search actually widens (4.42x vs 3.67x). Treat this as directional, not a forecast: it assumes each channel's current decay rate holds steady, which is a simplification.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Bemobi Analytics Test Task — Part 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Caveats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7F8F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90472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window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83280" y="1490472"/>
            <a:ext cx="79552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 months of signup cohorts (Jan–Aug 2024) — a full year of seasonality isn't yet observable.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7F8F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23160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projection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0" y="2423160"/>
            <a:ext cx="79552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Extrapolated from a 5-month decay trend, not observed. Directional, not a forecast commitment.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8269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7F8F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355848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attribution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3355848"/>
            <a:ext cx="79552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a channel's monthly spend is attributed to that month's signups. If spend has a lagged effect (e.g., brand awareness), CPA could be slightly overstated for slower-converting channels.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1538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7F8F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88536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treatment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4288536"/>
            <a:ext cx="79552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 are treated as $0 net revenue that month, consistent with amount charged — gross bookings and refund cost aren't broken out separately.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14807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7F8F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221224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Sub-segments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5221224"/>
            <a:ext cx="79552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× country and channel × plan cuts exist but weren't the focus here — smaller cell sizes make them noisier.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Bemobi Analytics Test Task — Part 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53896"/>
            <a:ext cx="100584" cy="100584"/>
          </a:xfrm>
          <a:prstGeom prst="ellipse">
            <a:avLst/>
          </a:prstGeom>
          <a:solidFill>
            <a:srgbClr val="E8635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28016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Organic/Referral is the most efficient channel by far (15.4x LTV:CAC), but it's a byproduct of the existing user base — it can't be scaled like a paid budget line.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368296"/>
            <a:ext cx="100584" cy="100584"/>
          </a:xfrm>
          <a:prstGeom prst="ellipse">
            <a:avLst/>
          </a:prstGeom>
          <a:solidFill>
            <a:srgbClr val="E8635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19456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the two paid channels, Paid Social has the better LTV:CAC (2.39x vs 1.65x), even though its raw LTV is lower — its much lower CPA makes up the difference.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282696"/>
            <a:ext cx="100584" cy="100584"/>
          </a:xfrm>
          <a:prstGeom prst="ellipse">
            <a:avLst/>
          </a:prstGeom>
          <a:solidFill>
            <a:srgbClr val="E8635A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10896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Search's weakness is cost, not quality — it retains better than Paid Social but costs 68% more per signup.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197096"/>
            <a:ext cx="100584" cy="100584"/>
          </a:xfrm>
          <a:prstGeom prst="ellipse">
            <a:avLst/>
          </a:prstGeom>
          <a:solidFill>
            <a:srgbClr val="E8635A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02336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Social's weakness is retention, not initial monetization — cheap to acquire, but 42% of users churn within 4 months.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5111496"/>
            <a:ext cx="100584" cy="100584"/>
          </a:xfrm>
          <a:prstGeom prst="ellipse">
            <a:avLst/>
          </a:prstGeom>
          <a:solidFill>
            <a:srgbClr val="E8635A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93776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to a 12-month projection reinforces this picture rather than reversing it — Paid Social's advantage over Paid Search widens (4.42x vs 3.67x projected).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Bemobi Analytics Test Task — Part 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10515600" cy="3429000"/>
          </a:xfrm>
          <a:prstGeom prst="roundRect">
            <a:avLst>
              <a:gd name="adj" fmla="val 2133"/>
            </a:avLst>
          </a:prstGeom>
          <a:solidFill>
            <a:srgbClr val="3D7A3E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645920"/>
            <a:ext cx="978408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 currently delivers the best LTV:CAC of our paid channels (2.39x today, projected 4.42x over 12 months) and should get the larger share of incremental budget. However, its 42% four-month churn rate is a real drag on long-run value, so before scaling further I'd want to understand what's driving that early drop-off — onboarding, audience targeting, or a mismatch between ad promise and product. Paid Search's issue is cost rather than quality, so testing lower-cost bidding or tighter targeting could improve its ratio without hurting retention. I'd also want another quarter of cohort data before reallocating aggressively, since this analysis covers only 8 months of signups and the 12-month figures are a projection, not an observed outcome.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E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 use: I used Claude to check whether my SQL queries and formulas worked correctly and fit the task. The analysis, conclusions, and recommendation are my own.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Bemobi Analytics Test Task — Part 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2026-07-15T18:24:59Z</dcterms:created>
  <dcterms:modified xsi:type="dcterms:W3CDTF">2026-07-15T18:24:59Z</dcterms:modified>
</cp:coreProperties>
</file>